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Bonjour. Aujourd’hui, je vais présenter la militarisation de l’Arctique.</a:t>
            </a:r>
          </a:p>
          <a:p>
            <a:r>
              <a:rPr sz="1200">
                <a:latin typeface="Inter"/>
              </a:rPr>
              <a:t>        La question centrale est simple : la fonte des glaces transforme-t-elle</a:t>
            </a:r>
          </a:p>
          <a:p>
            <a:r>
              <a:rPr sz="1200">
                <a:latin typeface="Inter"/>
              </a:rPr>
              <a:t>        cette région en nouvelle frontière stratégique ?</a:t>
            </a:r>
          </a:p>
          <a:p>
            <a:r>
              <a:rPr sz="1200">
                <a:latin typeface="Inter"/>
              </a:rPr>
              <a:t>        Nous allons voir pourquoi l’Arctique attire les puissances,</a:t>
            </a:r>
          </a:p>
          <a:p>
            <a:r>
              <a:rPr sz="1200">
                <a:latin typeface="Inter"/>
              </a:rPr>
              <a:t>        qui y renforce sa présence, puis où se situent les principaux risques.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Pourquoi maintenant ? D’abord à cause du climat.</a:t>
            </a:r>
          </a:p>
          <a:p>
            <a:r>
              <a:rPr sz="1200">
                <a:latin typeface="Inter"/>
              </a:rPr>
              <a:t>        Depuis 1979, le minimum de banquise de septembre diminue de 12,1 % par décennie.</a:t>
            </a:r>
          </a:p>
          <a:p>
            <a:r>
              <a:rPr sz="1200">
                <a:latin typeface="Inter"/>
              </a:rPr>
              <a:t>        Cela rend certaines routes et certaines zones plus accessibles pendant une partie de l’année.</a:t>
            </a:r>
          </a:p>
          <a:p>
            <a:r>
              <a:rPr sz="1200">
                <a:latin typeface="Inter"/>
              </a:rPr>
              <a:t>        Mais l’Arctique reste très difficile : froid, distance, manque de ports et secours limités.</a:t>
            </a:r>
          </a:p>
          <a:p>
            <a:r>
              <a:rPr sz="1200">
                <a:latin typeface="Inter"/>
              </a:rPr>
              <a:t>        Son importance militaire vient surtout de l’alerte avancée,</a:t>
            </a:r>
          </a:p>
          <a:p>
            <a:r>
              <a:rPr sz="1200">
                <a:latin typeface="Inter"/>
              </a:rPr>
              <a:t>        des sous-marins nucléaires et de la liaison entre Atlantique et Pacifique.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Trois acteurs structurent le rapport de force.</a:t>
            </a:r>
          </a:p>
          <a:p>
            <a:r>
              <a:rPr sz="1200">
                <a:latin typeface="Inter"/>
              </a:rPr>
              <a:t>        La Russie possède la plus longue façade arctique et protège autour de Kola</a:t>
            </a:r>
          </a:p>
          <a:p>
            <a:r>
              <a:rPr sz="1200">
                <a:latin typeface="Inter"/>
              </a:rPr>
              <a:t>        ses sous-marins nucléaires : c’est la logique du bastion.</a:t>
            </a:r>
          </a:p>
          <a:p>
            <a:r>
              <a:rPr sz="1200">
                <a:latin typeface="Inter"/>
              </a:rPr>
              <a:t>        L’OTAN bénéficie désormais d’une continuité géographique :</a:t>
            </a:r>
          </a:p>
          <a:p>
            <a:r>
              <a:rPr sz="1200">
                <a:latin typeface="Inter"/>
              </a:rPr>
              <a:t>        sept des huit États arctiques sont alliés depuis les adhésions finlandaise et suédoise.</a:t>
            </a:r>
          </a:p>
          <a:p>
            <a:r>
              <a:rPr sz="1200">
                <a:latin typeface="Inter"/>
              </a:rPr>
              <a:t>        La Chine cherche surtout l’accès aux routes, à la science et aux ressources.</a:t>
            </a:r>
          </a:p>
          <a:p>
            <a:r>
              <a:rPr sz="1200">
                <a:latin typeface="Inter"/>
              </a:rPr>
              <a:t>        Son influence augmente, mais elle n’a ni côte arctique ni présence militaire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Les risques se concentrent dans trois zones.</a:t>
            </a:r>
          </a:p>
          <a:p>
            <a:r>
              <a:rPr sz="1200">
                <a:latin typeface="Inter"/>
              </a:rPr>
              <a:t>        Autour de Kola et du passage GIUK, l’enjeu est nucléaire et maritime.</a:t>
            </a:r>
          </a:p>
          <a:p>
            <a:r>
              <a:rPr sz="1200">
                <a:latin typeface="Inter"/>
              </a:rPr>
              <a:t>        Au Groenland, ce sont l’alerte avancée, les satellites et l’accès aux infrastructures.</a:t>
            </a:r>
          </a:p>
          <a:p>
            <a:r>
              <a:rPr sz="1200">
                <a:latin typeface="Inter"/>
              </a:rPr>
              <a:t>        Dans le détroit de Béring et sur la route maritime du Nord,</a:t>
            </a:r>
          </a:p>
          <a:p>
            <a:r>
              <a:rPr sz="1200">
                <a:latin typeface="Inter"/>
              </a:rPr>
              <a:t>        le danger vient des patrouilles, du brouillage et des actions de zone grise.</a:t>
            </a:r>
          </a:p>
          <a:p>
            <a:r>
              <a:rPr sz="1200">
                <a:latin typeface="Inter"/>
              </a:rPr>
              <a:t>        Le scénario le plus probable n’est pas une guerre planifiée,</a:t>
            </a:r>
          </a:p>
          <a:p>
            <a:r>
              <a:rPr sz="1200">
                <a:latin typeface="Inter"/>
              </a:rPr>
              <a:t>        mais un incident mal interprété, suivi d’une réaction trop rapide.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Pour terminer, je vous propose trois questions.</a:t>
            </a:r>
          </a:p>
          <a:p>
            <a:r>
              <a:rPr sz="1200">
                <a:latin typeface="Inter"/>
              </a:rPr>
              <a:t>        Premièrement, la dissuasion rend-elle réellement l’Arctique plus sûr ?</a:t>
            </a:r>
          </a:p>
          <a:p>
            <a:r>
              <a:rPr sz="1200">
                <a:latin typeface="Inter"/>
              </a:rPr>
              <a:t>        Deuxièmement, le renforcement de l’OTAN protège-t-il la région</a:t>
            </a:r>
          </a:p>
          <a:p>
            <a:r>
              <a:rPr sz="1200">
                <a:latin typeface="Inter"/>
              </a:rPr>
              <a:t>        ou accélère-t-il le dilemme de sécurité ?</a:t>
            </a:r>
          </a:p>
          <a:p>
            <a:r>
              <a:rPr sz="1200">
                <a:latin typeface="Inter"/>
              </a:rPr>
              <a:t>        Enfin, peut-on encore coopérer sur le climat, la recherche et le secours</a:t>
            </a:r>
          </a:p>
          <a:p>
            <a:r>
              <a:rPr sz="1200">
                <a:latin typeface="Inter"/>
              </a:rPr>
              <a:t>        tout en étant en rivalité militaire ?</a:t>
            </a:r>
          </a:p>
          <a:p>
            <a:r>
              <a:rPr sz="1200">
                <a:latin typeface="Inter"/>
              </a:rPr>
              <a:t>        Merci pour votre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tic_icebreaker_hero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566928"/>
            <a:ext cx="141732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580644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EXPOSÉ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8FB"/>
                </a:solidFill>
                <a:latin typeface="Inter"/>
              </a:rPr>
              <a:t>LA MILITARISATION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148840"/>
            <a:ext cx="5303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73D8FF"/>
                </a:solidFill>
                <a:latin typeface="Inter"/>
              </a:rPr>
              <a:t>DE L’ARCTIQUE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127248"/>
            <a:ext cx="1371600" cy="0"/>
          </a:xfrm>
          <a:prstGeom prst="line">
            <a:avLst/>
          </a:prstGeom>
          <a:ln w="38100">
            <a:solidFill>
              <a:srgbClr val="73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456432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B"/>
                </a:solidFill>
                <a:latin typeface="Inter"/>
              </a:rPr>
              <a:t>Climat  ·  puissance  ·  sécurité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41648"/>
            <a:ext cx="4526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FC4D3"/>
                </a:solidFill>
                <a:latin typeface="Inter"/>
              </a:rPr>
              <a:t>Une nouvelle frontière stratégique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895A8"/>
                </a:solidFill>
                <a:latin typeface="Inter"/>
              </a:rPr>
              <a:t>FORMAT COURT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6327648"/>
            <a:ext cx="2907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895A8"/>
                </a:solidFill>
                <a:latin typeface="Inter"/>
              </a:rPr>
              <a:t>Illustration éditoriale générée · sans valeur documentaire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tic_icebreaker_hero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84848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2212848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97764"/>
            <a:ext cx="22128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02 · POURQUOI MAINTENANT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347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FC4D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4F8FB"/>
                </a:solidFill>
                <a:latin typeface="Inter"/>
              </a:rPr>
              <a:t>L’espace s’ouvre.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73D8FF"/>
                </a:solidFill>
                <a:latin typeface="Inter"/>
              </a:rPr>
              <a:t>La compétition suit.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505456"/>
            <a:ext cx="5349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FC4D3"/>
                </a:solidFill>
                <a:latin typeface="Inter"/>
              </a:rPr>
              <a:t>Le climat rend la région plus accessible —
pas plus facile à contrôler.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3703320"/>
            <a:ext cx="1755648" cy="16276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3931920"/>
            <a:ext cx="182880" cy="182880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288536"/>
            <a:ext cx="1389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B"/>
                </a:solidFill>
                <a:latin typeface="Inter"/>
              </a:rPr>
              <a:t>−12,1 %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690872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D8FF"/>
                </a:solidFill>
                <a:latin typeface="Inter"/>
              </a:rPr>
              <a:t>BANQUISE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9560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par décennie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78608" y="3703320"/>
            <a:ext cx="1755648" cy="16276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79776" y="3931920"/>
            <a:ext cx="182880" cy="182880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4288536"/>
            <a:ext cx="1389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B"/>
                </a:solidFill>
                <a:latin typeface="Inter"/>
              </a:rPr>
              <a:t>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4690872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36B"/>
                </a:solidFill>
                <a:latin typeface="Inter"/>
              </a:rPr>
              <a:t>ACCÈS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6" y="49560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saisonnier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3703320"/>
            <a:ext cx="1755648" cy="16276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0" y="3931920"/>
            <a:ext cx="182880" cy="1828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288536"/>
            <a:ext cx="1389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B"/>
                </a:solidFill>
                <a:latin typeface="Inter"/>
              </a:rPr>
              <a:t>ALERTE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690872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6B6B"/>
                </a:solidFill>
                <a:latin typeface="Inter"/>
              </a:rPr>
              <a:t>DÉFENSE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560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FC4D3"/>
                </a:solidFill>
                <a:latin typeface="Inter"/>
              </a:rPr>
              <a:t>nucléaire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370832"/>
            <a:ext cx="3749039" cy="969264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4" y="4709160"/>
            <a:ext cx="3200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73D8FF"/>
                </a:solidFill>
                <a:latin typeface="Inter"/>
              </a:rPr>
              <a:t>CLIMAT </a:t>
            </a:r>
            <a:r>
              <a:rPr sz="1300" b="1">
                <a:solidFill>
                  <a:srgbClr val="AFC4D3"/>
                </a:solidFill>
                <a:latin typeface="Inter"/>
              </a:rPr>
              <a:t>→ </a:t>
            </a:r>
            <a:r>
              <a:rPr sz="1300" b="1">
                <a:solidFill>
                  <a:srgbClr val="FFB36B"/>
                </a:solidFill>
                <a:latin typeface="Inter"/>
              </a:rPr>
              <a:t>ACCÈS </a:t>
            </a:r>
            <a:r>
              <a:rPr sz="1300" b="1">
                <a:solidFill>
                  <a:srgbClr val="AFC4D3"/>
                </a:solidFill>
                <a:latin typeface="Inter"/>
              </a:rPr>
              <a:t>→ </a:t>
            </a:r>
            <a:r>
              <a:rPr sz="1300" b="1">
                <a:solidFill>
                  <a:srgbClr val="FF6B6B"/>
                </a:solidFill>
                <a:latin typeface="Inter"/>
              </a:rPr>
              <a:t>PUISSANCE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 : NSIDC, minimum de banquise 2025.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6327648"/>
            <a:ext cx="2907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895A8"/>
                </a:solidFill>
                <a:latin typeface="Inter"/>
              </a:rPr>
              <a:t>Illustration générée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847088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97764"/>
            <a:ext cx="18470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03 · QUI MILITARISE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347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FC4D3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6400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Un face-à-face asymétrique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3D8FF"/>
                </a:solidFill>
                <a:latin typeface="Inter"/>
              </a:rPr>
              <a:t>7 / 8 </a:t>
            </a:r>
            <a:r>
              <a:rPr sz="1400" b="0">
                <a:solidFill>
                  <a:srgbClr val="AFC4D3"/>
                </a:solidFill>
                <a:latin typeface="Inter"/>
              </a:rPr>
              <a:t>États arctiques sont membres de l’OTAN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75688"/>
            <a:ext cx="6519672" cy="4178808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rte_arc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03120"/>
            <a:ext cx="4187952" cy="41879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36592" y="2359152"/>
            <a:ext cx="749808" cy="283464"/>
          </a:xfrm>
          <a:prstGeom prst="roundRect">
            <a:avLst>
              <a:gd name="adj" fmla="val 8000"/>
            </a:avLst>
          </a:prstGeom>
          <a:solidFill>
            <a:srgbClr val="2EB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372868"/>
            <a:ext cx="7498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OTAN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68696" y="2359152"/>
            <a:ext cx="932688" cy="283464"/>
          </a:xfrm>
          <a:prstGeom prst="roundRect">
            <a:avLst>
              <a:gd name="adj" fmla="val 8000"/>
            </a:avLst>
          </a:prstGeom>
          <a:solidFill>
            <a:srgbClr val="F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8696" y="2372868"/>
            <a:ext cx="93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RUSSIE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81635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Carte schématique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2631" y="2084831"/>
            <a:ext cx="4279392" cy="107899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340863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4780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2860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6B"/>
                </a:solidFill>
                <a:latin typeface="Inter"/>
              </a:rPr>
              <a:t>RUSSIE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258568"/>
            <a:ext cx="950976" cy="283464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2272284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FC4D3"/>
                </a:solidFill>
                <a:latin typeface="Inter"/>
              </a:rPr>
              <a:t>BASTION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688336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F8FB"/>
                </a:solidFill>
                <a:latin typeface="Inter"/>
              </a:rPr>
              <a:t>Kola · SNLE · déni d’accès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2631" y="3383279"/>
            <a:ext cx="4279392" cy="107899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35240" y="3639311"/>
            <a:ext cx="502920" cy="502920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377647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35844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3D8FF"/>
                </a:solidFill>
                <a:latin typeface="Inter"/>
              </a:rPr>
              <a:t>OTAN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87000" y="3557015"/>
            <a:ext cx="950976" cy="283464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3570732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FC4D3"/>
                </a:solidFill>
                <a:latin typeface="Inter"/>
              </a:rPr>
              <a:t>ALLIANCE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986783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F8FB"/>
                </a:solidFill>
                <a:latin typeface="Inter"/>
              </a:rPr>
              <a:t>continuité · surveillance · renforts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42631" y="4681727"/>
            <a:ext cx="4279392" cy="107899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4937759"/>
            <a:ext cx="502920" cy="502920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507491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4882895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36B"/>
                </a:solidFill>
                <a:latin typeface="Inter"/>
              </a:rPr>
              <a:t>CHINE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4855464"/>
            <a:ext cx="950976" cy="283464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4869179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FC4D3"/>
                </a:solidFill>
                <a:latin typeface="Inter"/>
              </a:rPr>
              <a:t>ACCÈS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5285231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4F8FB"/>
                </a:solidFill>
                <a:latin typeface="Inter"/>
              </a:rPr>
              <a:t>science · routes · influence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42631" y="5989320"/>
            <a:ext cx="4279392" cy="274320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6044184"/>
            <a:ext cx="40416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La Chine influence l’équilibre — sans parité militaire.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Sources : OTAN, 2026 ; DoD, 2024 ; CSIS.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93391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97764"/>
            <a:ext cx="199339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04 · OÙ EST LE RISQUE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347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FC4D3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Trois points chauds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Un incident local peut produire une réaction régionale.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148840"/>
            <a:ext cx="3456432" cy="2560320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395728"/>
            <a:ext cx="530352" cy="283464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09444"/>
            <a:ext cx="5303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719072" y="2907792"/>
            <a:ext cx="877824" cy="877824"/>
          </a:xfrm>
          <a:prstGeom prst="ellipse">
            <a:avLst/>
          </a:prstGeom>
          <a:solidFill>
            <a:srgbClr val="0B263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65960" y="315468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569464" y="3346704"/>
            <a:ext cx="868680" cy="0"/>
          </a:xfrm>
          <a:prstGeom prst="line">
            <a:avLst/>
          </a:prstGeom>
          <a:ln w="2794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" y="3822191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6B6B"/>
                </a:solidFill>
                <a:latin typeface="Inter"/>
              </a:rPr>
              <a:t>KOLA · GIUK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42232"/>
            <a:ext cx="2999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Sous-marins
&amp; renforts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148840"/>
            <a:ext cx="3456432" cy="2560320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81144" y="2395728"/>
            <a:ext cx="530352" cy="283464"/>
          </a:xfrm>
          <a:prstGeom prst="roundRect">
            <a:avLst>
              <a:gd name="adj" fmla="val 8000"/>
            </a:avLst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409444"/>
            <a:ext cx="5303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5733288" y="3154680"/>
            <a:ext cx="146304" cy="146304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5577840" y="2999232"/>
            <a:ext cx="457200" cy="457200"/>
          </a:xfrm>
          <a:prstGeom prst="arc">
            <a:avLst/>
          </a:prstGeom>
          <a:noFill/>
          <a:ln w="16459">
            <a:solidFill>
              <a:srgbClr val="73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5431536" y="2852928"/>
            <a:ext cx="749808" cy="749808"/>
          </a:xfrm>
          <a:prstGeom prst="arc">
            <a:avLst/>
          </a:prstGeom>
          <a:noFill/>
          <a:ln w="16459">
            <a:solidFill>
              <a:srgbClr val="73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5285231" y="2706624"/>
            <a:ext cx="1042415" cy="1042415"/>
          </a:xfrm>
          <a:prstGeom prst="arc">
            <a:avLst/>
          </a:prstGeom>
          <a:noFill/>
          <a:ln w="16459">
            <a:solidFill>
              <a:srgbClr val="73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3822191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3D8FF"/>
                </a:solidFill>
                <a:latin typeface="Inter"/>
              </a:rPr>
              <a:t>GROENLAND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142232"/>
            <a:ext cx="2999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Alerte
&amp; espace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9016" y="2148840"/>
            <a:ext cx="3456432" cy="2560320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57616" y="2395728"/>
            <a:ext cx="530352" cy="283464"/>
          </a:xfrm>
          <a:prstGeom prst="roundRect">
            <a:avLst>
              <a:gd name="adj" fmla="val 8000"/>
            </a:avLst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6" y="2409444"/>
            <a:ext cx="5303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03</a:t>
            </a:r>
          </a:p>
        </p:txBody>
      </p:sp>
      <p:sp>
        <p:nvSpPr>
          <p:cNvPr id="27" name="Oval 26"/>
          <p:cNvSpPr/>
          <p:nvPr/>
        </p:nvSpPr>
        <p:spPr>
          <a:xfrm>
            <a:off x="9272016" y="3264408"/>
            <a:ext cx="128016" cy="128016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400032" y="3328415"/>
            <a:ext cx="676656" cy="0"/>
          </a:xfrm>
          <a:prstGeom prst="line">
            <a:avLst/>
          </a:prstGeom>
          <a:ln w="27940">
            <a:solidFill>
              <a:srgbClr val="FFB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9985248" y="3218688"/>
            <a:ext cx="237744" cy="228600"/>
          </a:xfrm>
          <a:prstGeom prst="chevron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3822191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B36B"/>
                </a:solidFill>
                <a:latin typeface="Inter"/>
              </a:rPr>
              <a:t>BÉRING · NSR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4142232"/>
            <a:ext cx="2999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4F8FB"/>
                </a:solidFill>
                <a:latin typeface="Inter"/>
              </a:rPr>
              <a:t>Routes
&amp; zone grise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" y="5074920"/>
            <a:ext cx="11000232" cy="886968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38581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6B6B"/>
                </a:solidFill>
                <a:latin typeface="Inter"/>
              </a:rPr>
              <a:t>INCIDENT</a:t>
            </a:r>
          </a:p>
        </p:txBody>
      </p:sp>
      <p:sp>
        <p:nvSpPr>
          <p:cNvPr id="34" name="Chevron 33"/>
          <p:cNvSpPr/>
          <p:nvPr/>
        </p:nvSpPr>
        <p:spPr>
          <a:xfrm>
            <a:off x="3328416" y="5321808"/>
            <a:ext cx="438912" cy="365760"/>
          </a:xfrm>
          <a:prstGeom prst="chevron">
            <a:avLst/>
          </a:prstGeom>
          <a:solidFill>
            <a:srgbClr val="78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538581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B36B"/>
                </a:solidFill>
                <a:latin typeface="Inter"/>
              </a:rPr>
              <a:t>PERCEPTION</a:t>
            </a:r>
          </a:p>
        </p:txBody>
      </p:sp>
      <p:sp>
        <p:nvSpPr>
          <p:cNvPr id="36" name="Chevron 35"/>
          <p:cNvSpPr/>
          <p:nvPr/>
        </p:nvSpPr>
        <p:spPr>
          <a:xfrm>
            <a:off x="6949440" y="5321808"/>
            <a:ext cx="438912" cy="365760"/>
          </a:xfrm>
          <a:prstGeom prst="chevron">
            <a:avLst/>
          </a:prstGeom>
          <a:solidFill>
            <a:srgbClr val="78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538581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3D8FF"/>
                </a:solidFill>
                <a:latin typeface="Inter"/>
              </a:rPr>
              <a:t>RIPOSTE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144768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Le risque principal : l’escalade involontaire.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Synthèse : OTAN, Conseil de l’Arctique, DoD.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tic_questions_backgroun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75488"/>
            <a:ext cx="141732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9204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05 ·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73D8FF"/>
                </a:solidFill>
                <a:latin typeface="Inter"/>
              </a:rPr>
              <a:t>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47672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FC4D3"/>
                </a:solidFill>
                <a:latin typeface="Inter"/>
              </a:rPr>
              <a:t>À vous de débattre.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2651760"/>
            <a:ext cx="411480" cy="411480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76148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28803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F8FB"/>
                </a:solidFill>
                <a:latin typeface="Inter"/>
              </a:rPr>
              <a:t>La dissuasion rend-elle
l’Arctique plus sûr ?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3730752"/>
            <a:ext cx="411480" cy="411480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8404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712464"/>
            <a:ext cx="28803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F8FB"/>
                </a:solidFill>
                <a:latin typeface="Inter"/>
              </a:rPr>
              <a:t>L’OTAN protège-t-elle
ou accélère-t-elle l’escalade ?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4809744"/>
            <a:ext cx="411480" cy="411480"/>
          </a:xfrm>
          <a:prstGeom prst="ellipse">
            <a:avLst/>
          </a:prstGeom>
          <a:solidFill>
            <a:srgbClr val="66D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919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791456"/>
            <a:ext cx="28803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F8FB"/>
                </a:solidFill>
                <a:latin typeface="Inter"/>
              </a:rPr>
              <a:t>Peut-on coopérer sur le climat
tout en rivalisant militairement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15391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MERCI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6327648"/>
            <a:ext cx="2907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895A8"/>
                </a:solidFill>
                <a:latin typeface="Inter"/>
              </a:rPr>
              <a:t>Illustration éditoriale générée · sans valeur documentaire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militarisation de l’Arctique — version courte</dc:title>
  <dc:subject>Exposé visuel en 5 diapositives</dc:subject>
  <dc:creator>Cursor</dc:creator>
  <cp:keywords/>
  <dc:description>Version sombre, visuelle et concise avec notes du présentateur.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