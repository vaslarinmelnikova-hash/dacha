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Inter"/>
              </a:rPr>
              <a:t>Bonjour. Mon exposé porte sur la militarisation de l’Arctique.</a:t>
            </a:r>
          </a:p>
          <a:p>
            <a:r>
              <a:rPr sz="1200">
                <a:latin typeface="Inter"/>
              </a:rPr>
              <a:t>        La question n’est pas seulement de savoir si les armées y sont plus présentes,</a:t>
            </a:r>
          </a:p>
          <a:p>
            <a:r>
              <a:rPr sz="1200">
                <a:latin typeface="Inter"/>
              </a:rPr>
              <a:t>        mais pourquoi elles le sont et quels risques cette présence crée.</a:t>
            </a:r>
          </a:p>
          <a:p>
            <a:r>
              <a:rPr sz="1200">
                <a:latin typeface="Inter"/>
              </a:rPr>
              <a:t>        Mon idée principale est la suivante : le climat rend l’espace plus accessible,</a:t>
            </a:r>
          </a:p>
          <a:p>
            <a:r>
              <a:rPr sz="1200">
                <a:latin typeface="Inter"/>
              </a:rPr>
              <a:t>        mais c’est la rivalité entre puissances qui transforme cette accessibilité en enjeu militaire.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Inter"/>
              </a:rPr>
              <a:t>Premier facteur : l’accessibilité. En 2025, le minimum de banquise atteint 4,60 millions</a:t>
            </a:r>
          </a:p>
          <a:p>
            <a:r>
              <a:rPr sz="1200">
                <a:latin typeface="Inter"/>
              </a:rPr>
              <a:t>        de kilomètres carrés. La tendance de long terme reste une baisse de 12,1 % par décennie,</a:t>
            </a:r>
          </a:p>
          <a:p>
            <a:r>
              <a:rPr sz="1200">
                <a:latin typeface="Inter"/>
              </a:rPr>
              <a:t>        même si la baisse n’est pas linéaire chaque année.</a:t>
            </a:r>
          </a:p>
          <a:p>
            <a:r>
              <a:rPr sz="1200">
                <a:latin typeface="Inter"/>
              </a:rPr>
              <a:t>        Deuxième facteur : l’espace intéresse pour les routes, les ressources et les infrastructures.</a:t>
            </a:r>
          </a:p>
          <a:p>
            <a:r>
              <a:rPr sz="1200">
                <a:latin typeface="Inter"/>
              </a:rPr>
              <a:t>        Mais il reste très coûteux et dangereux.</a:t>
            </a:r>
          </a:p>
          <a:p>
            <a:r>
              <a:rPr sz="1200">
                <a:latin typeface="Inter"/>
              </a:rPr>
              <a:t>        Enfin, l’Arctique a trois fonctions militaires : protéger la dissuasion nucléaire,</a:t>
            </a:r>
          </a:p>
          <a:p>
            <a:r>
              <a:rPr sz="1200">
                <a:latin typeface="Inter"/>
              </a:rPr>
              <a:t>        surveiller les approches et projeter des forces entre Atlantique et Pacifique.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Inter"/>
              </a:rPr>
              <a:t>L’Arctique compte huit États : Canada, États-Unis, Danemark via le Groenland,</a:t>
            </a:r>
          </a:p>
          <a:p>
            <a:r>
              <a:rPr sz="1200">
                <a:latin typeface="Inter"/>
              </a:rPr>
              <a:t>        Islande, Norvège, Suède, Finlande et Russie.</a:t>
            </a:r>
          </a:p>
          <a:p>
            <a:r>
              <a:rPr sz="1200">
                <a:latin typeface="Inter"/>
              </a:rPr>
              <a:t>        Depuis l’entrée de la Finlande en 2023 et de la Suède en 2024,</a:t>
            </a:r>
          </a:p>
          <a:p>
            <a:r>
              <a:rPr sz="1200">
                <a:latin typeface="Inter"/>
              </a:rPr>
              <a:t>        sept de ces huit États sont membres de l’OTAN.</a:t>
            </a:r>
          </a:p>
          <a:p>
            <a:r>
              <a:rPr sz="1200">
                <a:latin typeface="Inter"/>
              </a:rPr>
              <a:t>        L’Alliance dispose donc d’un arc géographique presque continu de l’Alaska à la Finlande.</a:t>
            </a:r>
          </a:p>
          <a:p>
            <a:r>
              <a:rPr sz="1200">
                <a:latin typeface="Inter"/>
              </a:rPr>
              <a:t>        La Russie reste toutefois le plus grand État arctique et possède la plus longue façade.</a:t>
            </a:r>
          </a:p>
          <a:p>
            <a:r>
              <a:rPr sz="1200">
                <a:latin typeface="Inter"/>
              </a:rPr>
              <a:t>        La Chine n’a aucune côte arctique : son influence dépend donc de partenariats et d’accès.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Inter"/>
              </a:rPr>
              <a:t>La priorité russe n’est pas seulement de conquérir des territoires.</a:t>
            </a:r>
          </a:p>
          <a:p>
            <a:r>
              <a:rPr sz="1200">
                <a:latin typeface="Inter"/>
              </a:rPr>
              <a:t>        Elle consiste d’abord à protéger la flotte du Nord et les sous-marins nucléaires</a:t>
            </a:r>
          </a:p>
          <a:p>
            <a:r>
              <a:rPr sz="1200">
                <a:latin typeface="Inter"/>
              </a:rPr>
              <a:t>        basés autour de la péninsule de Kola. C’est le concept de bastion :</a:t>
            </a:r>
          </a:p>
          <a:p>
            <a:r>
              <a:rPr sz="1200">
                <a:latin typeface="Inter"/>
              </a:rPr>
              <a:t>        plusieurs couches de défense aérienne, missiles côtiers, aviation et sous-marins</a:t>
            </a:r>
          </a:p>
          <a:p>
            <a:r>
              <a:rPr sz="1200">
                <a:latin typeface="Inter"/>
              </a:rPr>
              <a:t>        créent un espace protégé. Le paradoxe est classique :</a:t>
            </a:r>
          </a:p>
          <a:p>
            <a:r>
              <a:rPr sz="1200">
                <a:latin typeface="Inter"/>
              </a:rPr>
              <a:t>        ce que Moscou présente comme défensif peut menacer les routes de renfort de l’OTAN</a:t>
            </a:r>
          </a:p>
          <a:p>
            <a:r>
              <a:rPr sz="1200">
                <a:latin typeface="Inter"/>
              </a:rPr>
              <a:t>        dans l’Atlantique Nord. C’est le cœur du dilemme de sécurité.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Inter"/>
              </a:rPr>
              <a:t>La réponse de l’OTAN se lit en quatre étapes.</a:t>
            </a:r>
          </a:p>
          <a:p>
            <a:r>
              <a:rPr sz="1200">
                <a:latin typeface="Inter"/>
              </a:rPr>
              <a:t>        En 2022, l’invasion de l’Ukraine provoque une rupture politique majeure.</a:t>
            </a:r>
          </a:p>
          <a:p>
            <a:r>
              <a:rPr sz="1200">
                <a:latin typeface="Inter"/>
              </a:rPr>
              <a:t>        La Finlande adhère en 2023, puis la Suède en 2024.</a:t>
            </a:r>
          </a:p>
          <a:p>
            <a:r>
              <a:rPr sz="1200">
                <a:latin typeface="Inter"/>
              </a:rPr>
              <a:t>        À partir de 2025, cette nouvelle carte est transformée en commandement intégré :</a:t>
            </a:r>
          </a:p>
          <a:p>
            <a:r>
              <a:rPr sz="1200">
                <a:latin typeface="Inter"/>
              </a:rPr>
              <a:t>        les pays nordiques rejoignent la zone de responsabilité de JFC Norfolk.</a:t>
            </a:r>
          </a:p>
          <a:p>
            <a:r>
              <a:rPr sz="1200">
                <a:latin typeface="Inter"/>
              </a:rPr>
              <a:t>        En 2026, Arctic Sentry rassemble exercices, surveillance et activités multidomaines.</a:t>
            </a:r>
          </a:p>
          <a:p>
            <a:r>
              <a:rPr sz="1200">
                <a:latin typeface="Inter"/>
              </a:rPr>
              <a:t>        Une force avancée multinationale pour la Finlande est également mise en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Inter"/>
              </a:rPr>
              <a:t>Trois espaces concentrent les risques.</a:t>
            </a:r>
          </a:p>
          <a:p>
            <a:r>
              <a:rPr sz="1200">
                <a:latin typeface="Inter"/>
              </a:rPr>
              <a:t>        Autour de Kola, l’enjeu est la dissuasion nucléaire et l’accès à l’Atlantique par le passage GIUK,</a:t>
            </a:r>
          </a:p>
          <a:p>
            <a:r>
              <a:rPr sz="1200">
                <a:latin typeface="Inter"/>
              </a:rPr>
              <a:t>        entre Groenland, Islande et Royaume-Uni.</a:t>
            </a:r>
          </a:p>
          <a:p>
            <a:r>
              <a:rPr sz="1200">
                <a:latin typeface="Inter"/>
              </a:rPr>
              <a:t>        Autour du Groenland et de l’Amérique du Nord, les priorités sont l’alerte avancée,</a:t>
            </a:r>
          </a:p>
          <a:p>
            <a:r>
              <a:rPr sz="1200">
                <a:latin typeface="Inter"/>
              </a:rPr>
              <a:t>        l’espace et les infrastructures duales, à la fois civiles et militaires.</a:t>
            </a:r>
          </a:p>
          <a:p>
            <a:r>
              <a:rPr sz="1200">
                <a:latin typeface="Inter"/>
              </a:rPr>
              <a:t>        Enfin, vers le détroit de Béring et la route maritime du Nord,</a:t>
            </a:r>
          </a:p>
          <a:p>
            <a:r>
              <a:rPr sz="1200">
                <a:latin typeface="Inter"/>
              </a:rPr>
              <a:t>        la Russie veut contrôler le passage tandis que la coopération avec la Chine augmente.</a:t>
            </a:r>
          </a:p>
          <a:p>
            <a:r>
              <a:rPr sz="1200">
                <a:latin typeface="Inter"/>
              </a:rPr>
              <a:t>        La présence chinoise reste cependant bien plus limitée que celle de la Russie ou des États-Unis.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Inter"/>
              </a:rPr>
              <a:t>La Chine constitue un troisième acteur, mais il faut éviter de l’exagérer.</a:t>
            </a:r>
          </a:p>
          <a:p>
            <a:r>
              <a:rPr sz="1200">
                <a:latin typeface="Inter"/>
              </a:rPr>
              <a:t>        En 2018, elle se qualifie elle-même d’État proche de l’Arctique.</a:t>
            </a:r>
          </a:p>
          <a:p>
            <a:r>
              <a:rPr sz="1200">
                <a:latin typeface="Inter"/>
              </a:rPr>
              <a:t>        Ses intérêts sont scientifiques, économiques et maritimes.</a:t>
            </a:r>
          </a:p>
          <a:p>
            <a:r>
              <a:rPr sz="1200">
                <a:latin typeface="Inter"/>
              </a:rPr>
              <a:t>        La coopération avec la Russie s’étend dans l’énergie et certaines activités de sécurité.</a:t>
            </a:r>
          </a:p>
          <a:p>
            <a:r>
              <a:rPr sz="1200">
                <a:latin typeface="Inter"/>
              </a:rPr>
              <a:t>        Mais la Chine n’a aucune côte arctique, peu de bases permanentes et dépend des États riverains.</a:t>
            </a:r>
          </a:p>
          <a:p>
            <a:r>
              <a:rPr sz="1200">
                <a:latin typeface="Inter"/>
              </a:rPr>
              <a:t>        Elle est donc aujourd’hui surtout un acteur d’influence et d’opportunité,</a:t>
            </a:r>
          </a:p>
          <a:p>
            <a:r>
              <a:rPr sz="1200">
                <a:latin typeface="Inter"/>
              </a:rPr>
              <a:t>        pas une puissance militaire arctique au niveau de la Russie ou de l’OTAN.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Inter"/>
              </a:rPr>
              <a:t>La militarisation crée un dilemme de sécurité.</a:t>
            </a:r>
          </a:p>
          <a:p>
            <a:r>
              <a:rPr sz="1200">
                <a:latin typeface="Inter"/>
              </a:rPr>
              <a:t>        Un État déploie des moyens qu’il juge défensifs ; l’autre les interprète comme offensifs</a:t>
            </a:r>
          </a:p>
          <a:p>
            <a:r>
              <a:rPr sz="1200">
                <a:latin typeface="Inter"/>
              </a:rPr>
              <a:t>        et répond à son tour. Dans un milieu difficile, une collision, une erreur de navigation,</a:t>
            </a:r>
          </a:p>
          <a:p>
            <a:r>
              <a:rPr sz="1200">
                <a:latin typeface="Inter"/>
              </a:rPr>
              <a:t>        un brouillage ou une alerte mal comprise peuvent accélérer cette boucle.</a:t>
            </a:r>
          </a:p>
          <a:p>
            <a:r>
              <a:rPr sz="1200">
                <a:latin typeface="Inter"/>
              </a:rPr>
              <a:t>        Mais la guerre n’est pas inévitable : la dissuasion, les coûts logistiques,</a:t>
            </a:r>
          </a:p>
          <a:p>
            <a:r>
              <a:rPr sz="1200">
                <a:latin typeface="Inter"/>
              </a:rPr>
              <a:t>        le droit maritime et la coopération technique imposent des limites.</a:t>
            </a:r>
          </a:p>
          <a:p>
            <a:r>
              <a:rPr sz="1200">
                <a:latin typeface="Inter"/>
              </a:rPr>
              <a:t>        Le Conseil de l’Arctique continue certains travaux scientifiques,</a:t>
            </a:r>
          </a:p>
          <a:p>
            <a:r>
              <a:rPr sz="1200">
                <a:latin typeface="Inter"/>
              </a:rPr>
              <a:t>        mais son mandat exclut précisément les questions militaires.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Inter"/>
              </a:rPr>
              <a:t>Pour 2030, quatre scénarios peuvent être distingués.</a:t>
            </a:r>
          </a:p>
          <a:p>
            <a:r>
              <a:rPr sz="1200">
                <a:latin typeface="Inter"/>
              </a:rPr>
              <a:t>        Le scénario central est une dissuasion gérée : plus d’exercices et de surveillance,</a:t>
            </a:r>
          </a:p>
          <a:p>
            <a:r>
              <a:rPr sz="1200">
                <a:latin typeface="Inter"/>
              </a:rPr>
              <a:t>        mais pas de conflit direct.</a:t>
            </a:r>
          </a:p>
          <a:p>
            <a:r>
              <a:rPr sz="1200">
                <a:latin typeface="Inter"/>
              </a:rPr>
              <a:t>        La coopération sélective peut survivre dans la science, le secours ou la pêche.</a:t>
            </a:r>
          </a:p>
          <a:p>
            <a:r>
              <a:rPr sz="1200">
                <a:latin typeface="Inter"/>
              </a:rPr>
              <a:t>        Les actions de zone grise — sabotage, brouillage, pression sur des infrastructures —</a:t>
            </a:r>
          </a:p>
          <a:p>
            <a:r>
              <a:rPr sz="1200">
                <a:latin typeface="Inter"/>
              </a:rPr>
              <a:t>        sont assez plausibles et plus dangereuses.</a:t>
            </a:r>
          </a:p>
          <a:p>
            <a:r>
              <a:rPr sz="1200">
                <a:latin typeface="Inter"/>
              </a:rPr>
              <a:t>        Le conflit ouvert reste le moins probable, mais son impact serait extrême,</a:t>
            </a:r>
          </a:p>
          <a:p>
            <a:r>
              <a:rPr sz="1200">
                <a:latin typeface="Inter"/>
              </a:rPr>
              <a:t>        surtout si une capacité nucléaire était concernée.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Inter"/>
              </a:rPr>
              <a:t>Une stratégie efficace doit combiner quatre principes.</a:t>
            </a:r>
          </a:p>
          <a:p>
            <a:r>
              <a:rPr sz="1200">
                <a:latin typeface="Inter"/>
              </a:rPr>
              <a:t>        Premièrement, une dissuasion crédible, avec des capacités adaptées au milieu.</a:t>
            </a:r>
          </a:p>
          <a:p>
            <a:r>
              <a:rPr sz="1200">
                <a:latin typeface="Inter"/>
              </a:rPr>
              <a:t>        Deuxièmement, de la transparence : notification des exercices, canaux de crise</a:t>
            </a:r>
          </a:p>
          <a:p>
            <a:r>
              <a:rPr sz="1200">
                <a:latin typeface="Inter"/>
              </a:rPr>
              <a:t>        et règles claires lors des interceptions.</a:t>
            </a:r>
          </a:p>
          <a:p>
            <a:r>
              <a:rPr sz="1200">
                <a:latin typeface="Inter"/>
              </a:rPr>
              <a:t>        Troisièmement, la résilience des ports, câbles, satellites et systèmes de navigation.</a:t>
            </a:r>
          </a:p>
          <a:p>
            <a:r>
              <a:rPr sz="1200">
                <a:latin typeface="Inter"/>
              </a:rPr>
              <a:t>        Enfin, la sécurité ne peut pas être seulement militaire :</a:t>
            </a:r>
          </a:p>
          <a:p>
            <a:r>
              <a:rPr sz="1200">
                <a:latin typeface="Inter"/>
              </a:rPr>
              <a:t>        le changement climatique et les populations autochtones doivent être intégrés aux décisions.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Inter"/>
              </a:rPr>
              <a:t>Pour conclure, oui, l’Arctique se militarise, mais de manière asymétrique.</a:t>
            </a:r>
          </a:p>
          <a:p>
            <a:r>
              <a:rPr sz="1200">
                <a:latin typeface="Inter"/>
              </a:rPr>
              <a:t>        La Russie conserve l’avantage de la géographie et une forte densité nucléaire.</a:t>
            </a:r>
          </a:p>
          <a:p>
            <a:r>
              <a:rPr sz="1200">
                <a:latin typeface="Inter"/>
              </a:rPr>
              <a:t>        L’OTAN dispose désormais de l’avantage de la coalition et d’une continuité territoriale.</a:t>
            </a:r>
          </a:p>
          <a:p>
            <a:r>
              <a:rPr sz="1200">
                <a:latin typeface="Inter"/>
              </a:rPr>
              <a:t>        La Chine influence l’équilibre à long terme, sans dominer militairement aujourd’hui.</a:t>
            </a:r>
          </a:p>
          <a:p>
            <a:r>
              <a:rPr sz="1200">
                <a:latin typeface="Inter"/>
              </a:rPr>
              <a:t>        La fonte des glaces crée donc l’opportunité, tandis que la rivalité stratégique crée la militarisation.</a:t>
            </a:r>
          </a:p>
          <a:p>
            <a:r>
              <a:rPr sz="1200">
                <a:latin typeface="Inter"/>
              </a:rPr>
              <a:t>        Le véritable défi est d’empêcher que la présence militaire devienne incontrôlable.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Inter"/>
              </a:rPr>
              <a:t>Voici les principales sources utilisées.</a:t>
            </a:r>
          </a:p>
          <a:p>
            <a:r>
              <a:rPr sz="1200">
                <a:latin typeface="Inter"/>
              </a:rPr>
              <a:t>        J’ai privilégié les documents officiels de l’OTAN, du Conseil de l’Arctique,</a:t>
            </a:r>
          </a:p>
          <a:p>
            <a:r>
              <a:rPr sz="1200">
                <a:latin typeface="Inter"/>
              </a:rPr>
              <a:t>        du Département américain de la Défense et du NSIDC,</a:t>
            </a:r>
          </a:p>
          <a:p>
            <a:r>
              <a:rPr sz="1200">
                <a:latin typeface="Inter"/>
              </a:rPr>
              <a:t>        complétés par les analyses du CSIS.</a:t>
            </a:r>
          </a:p>
          <a:p>
            <a:r>
              <a:rPr sz="1200">
                <a:latin typeface="Inter"/>
              </a:rPr>
              <a:t>        Les liens sont cliquables dans la présentation.</a:t>
            </a:r>
          </a:p>
          <a:p>
            <a:r>
              <a:rPr sz="1200">
                <a:latin typeface="Inter"/>
              </a:rPr>
              <a:t>        Merci pour votre attention.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nato.int/en/news-and-events/articles/news/2026/02/11/nato-secretary-general-outlines-new-activity-arctic-sentry-ahead-of-defence-ministers-meeting" TargetMode="External"/><Relationship Id="rId3" Type="http://schemas.openxmlformats.org/officeDocument/2006/relationships/hyperlink" Target="https://www.nato.int/en/news-and-events/articles/news/2026/06/08/nato-enhances-security-in-the-arctic-and-high-north" TargetMode="External"/><Relationship Id="rId4" Type="http://schemas.openxmlformats.org/officeDocument/2006/relationships/hyperlink" Target="https://jfcnorfolk.nato.int/activity/joint-force-command-norfolk-welcomes-nordic-allies-to-its-area-of-responsibility" TargetMode="External"/><Relationship Id="rId5" Type="http://schemas.openxmlformats.org/officeDocument/2006/relationships/hyperlink" Target="https://nsidc.org/sea-ice-today/analyses/2025-arctic-sea-ice-minimum-squeezes-ten-lowest-minimums" TargetMode="External"/><Relationship Id="rId6" Type="http://schemas.openxmlformats.org/officeDocument/2006/relationships/hyperlink" Target="https://arctic-council.org/about/" TargetMode="External"/><Relationship Id="rId7" Type="http://schemas.openxmlformats.org/officeDocument/2006/relationships/hyperlink" Target="https://arctic-council.org/news/2026-arctic-council-update/" TargetMode="External"/><Relationship Id="rId8" Type="http://schemas.openxmlformats.org/officeDocument/2006/relationships/hyperlink" Target="https://www.csis.org/analysis/ice-curtain-modernization-kola-peninsula" TargetMode="External"/><Relationship Id="rId9" Type="http://schemas.openxmlformats.org/officeDocument/2006/relationships/hyperlink" Target="https://media.defense.gov/2024/Jul/22/2003507411/-1/-1/0/DOD-ARCTIC-STRATEGY-2024.PDF" TargetMode="External"/><Relationship Id="rId10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720840" y="-320040"/>
            <a:ext cx="5943600" cy="7498079"/>
          </a:xfrm>
          <a:prstGeom prst="rect">
            <a:avLst/>
          </a:prstGeom>
          <a:solidFill>
            <a:srgbClr val="0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arte_arcti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1152" y="164592"/>
            <a:ext cx="4983480" cy="49834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66928" y="512064"/>
            <a:ext cx="1847088" cy="283464"/>
          </a:xfrm>
          <a:prstGeom prst="roundRect">
            <a:avLst>
              <a:gd name="adj" fmla="val 8000"/>
            </a:avLst>
          </a:prstGeom>
          <a:solidFill>
            <a:srgbClr val="163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525780"/>
            <a:ext cx="184708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73D8FF"/>
                </a:solidFill>
                <a:latin typeface="Inter"/>
              </a:rPr>
              <a:t>GÉOPOLITIQUE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34440"/>
            <a:ext cx="60807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500" b="1">
                <a:solidFill>
                  <a:srgbClr val="F4F8FB"/>
                </a:solidFill>
                <a:latin typeface="Inter"/>
              </a:rPr>
              <a:t>LA MILITARISATION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83664"/>
            <a:ext cx="6035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73D8FF"/>
                </a:solidFill>
                <a:latin typeface="Inter"/>
              </a:rPr>
              <a:t>DE L’ARCTIQUE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80360"/>
            <a:ext cx="544068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AFC4D3"/>
                </a:solidFill>
                <a:latin typeface="Inter"/>
              </a:rPr>
              <a:t>La fonte des glaces transforme-t-elle le Grand Nord
en nouveau front stratégique 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4360" y="4160520"/>
            <a:ext cx="1463040" cy="0"/>
          </a:xfrm>
          <a:prstGeom prst="line">
            <a:avLst/>
          </a:prstGeom>
          <a:ln w="38100">
            <a:solidFill>
              <a:srgbClr val="73D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4360" y="4407408"/>
            <a:ext cx="1143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895A8"/>
                </a:solidFill>
                <a:latin typeface="Inter"/>
              </a:rPr>
              <a:t>EXPOSÉ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773168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4F8FB"/>
                </a:solidFill>
                <a:latin typeface="Inter"/>
              </a:rPr>
              <a:t>Défense · climat · rivalités de puissance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6245352"/>
            <a:ext cx="4160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7895A8"/>
                </a:solidFill>
                <a:latin typeface="Inter"/>
              </a:rPr>
              <a:t>Carte schématique — frontières non destinées à l’arbitrage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347472"/>
            <a:ext cx="1097280" cy="283464"/>
          </a:xfrm>
          <a:prstGeom prst="roundRect">
            <a:avLst>
              <a:gd name="adj" fmla="val 8000"/>
            </a:avLst>
          </a:prstGeom>
          <a:solidFill>
            <a:srgbClr val="163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61188"/>
            <a:ext cx="109728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73D8FF"/>
                </a:solidFill>
                <a:latin typeface="Inter"/>
              </a:rPr>
              <a:t>LE DÉCLENCHEUR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38328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7895A8"/>
                </a:solidFill>
                <a:latin typeface="Inter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68096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F4F8FB"/>
                </a:solidFill>
                <a:latin typeface="Inter"/>
              </a:rPr>
              <a:t>Un espace qui change de fonction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FC4D3"/>
                </a:solidFill>
                <a:latin typeface="Inter"/>
              </a:rPr>
              <a:t>Trois dynamiques se renforcent — sans produire mécaniquement une guerre.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20240"/>
            <a:ext cx="3456432" cy="3502152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4672" y="2157984"/>
            <a:ext cx="566928" cy="283464"/>
          </a:xfrm>
          <a:prstGeom prst="roundRect">
            <a:avLst>
              <a:gd name="adj" fmla="val 8000"/>
            </a:avLst>
          </a:prstGeom>
          <a:solidFill>
            <a:srgbClr val="73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1700"/>
            <a:ext cx="56692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A2B"/>
                </a:solidFill>
                <a:latin typeface="Inter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587752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3D8FF"/>
                </a:solidFill>
                <a:latin typeface="Inter"/>
              </a:rPr>
              <a:t>ACCESSIBILITÉ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063240"/>
            <a:ext cx="2971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4F8FB"/>
                </a:solidFill>
                <a:latin typeface="Inter"/>
              </a:rPr>
              <a:t>4,60 M km²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675887"/>
            <a:ext cx="290779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FC4D3"/>
                </a:solidFill>
                <a:latin typeface="Inter"/>
              </a:rPr>
              <a:t>minimum de banquise en septembre 2025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04672" y="4498848"/>
            <a:ext cx="2889504" cy="0"/>
          </a:xfrm>
          <a:prstGeom prst="line">
            <a:avLst/>
          </a:prstGeom>
          <a:ln w="12700">
            <a:solidFill>
              <a:srgbClr val="163C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04672" y="4709160"/>
            <a:ext cx="2907792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4F8FB"/>
                </a:solidFill>
                <a:latin typeface="Inter"/>
              </a:rPr>
              <a:t>−12,1 % par décennie
sur 1979–2025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4256" y="1920240"/>
            <a:ext cx="3456432" cy="3502152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2157984"/>
            <a:ext cx="566928" cy="283464"/>
          </a:xfrm>
          <a:prstGeom prst="roundRect">
            <a:avLst>
              <a:gd name="adj" fmla="val 8000"/>
            </a:avLst>
          </a:prstGeom>
          <a:solidFill>
            <a:srgbClr val="FFB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2171700"/>
            <a:ext cx="56692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A2B"/>
                </a:solidFill>
                <a:latin typeface="Inter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587752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B36B"/>
                </a:solidFill>
                <a:latin typeface="Inter"/>
              </a:rPr>
              <a:t>VALEUR STRATÉGIQUE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063240"/>
            <a:ext cx="2971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4F8FB"/>
                </a:solidFill>
                <a:latin typeface="Inter"/>
              </a:rPr>
              <a:t>Routes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675887"/>
            <a:ext cx="290779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FC4D3"/>
                </a:solidFill>
                <a:latin typeface="Inter"/>
              </a:rPr>
              <a:t>saisonnières, ports, énergie et minerais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0" y="4498848"/>
            <a:ext cx="2889504" cy="0"/>
          </a:xfrm>
          <a:prstGeom prst="line">
            <a:avLst/>
          </a:prstGeom>
          <a:ln w="12700">
            <a:solidFill>
              <a:srgbClr val="163C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0" y="4709160"/>
            <a:ext cx="2907792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4F8FB"/>
                </a:solidFill>
                <a:latin typeface="Inter"/>
              </a:rPr>
              <a:t>Mais des coûts extrêmes
et une logistique fragile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01583" y="1920240"/>
            <a:ext cx="3456432" cy="3502152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339327" y="2157984"/>
            <a:ext cx="566928" cy="283464"/>
          </a:xfrm>
          <a:prstGeom prst="roundRect">
            <a:avLst>
              <a:gd name="adj" fmla="val 8000"/>
            </a:avLst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39327" y="2171700"/>
            <a:ext cx="56692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A2B"/>
                </a:solidFill>
                <a:latin typeface="Inter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2587752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6B6B"/>
                </a:solidFill>
                <a:latin typeface="Inter"/>
              </a:rPr>
              <a:t>SÉCURITÉ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3063240"/>
            <a:ext cx="2971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4F8FB"/>
                </a:solidFill>
                <a:latin typeface="Inter"/>
              </a:rPr>
              <a:t>3 fonctions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3675887"/>
            <a:ext cx="290779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FC4D3"/>
                </a:solidFill>
                <a:latin typeface="Inter"/>
              </a:rPr>
              <a:t>dissuasion nucléaire · alerte · projection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339327" y="4498848"/>
            <a:ext cx="2889505" cy="0"/>
          </a:xfrm>
          <a:prstGeom prst="line">
            <a:avLst/>
          </a:prstGeom>
          <a:ln w="12700">
            <a:solidFill>
              <a:srgbClr val="163C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339327" y="4709160"/>
            <a:ext cx="2907792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4F8FB"/>
                </a:solidFill>
                <a:latin typeface="Inter"/>
              </a:rPr>
              <a:t>L’Arctique relie
Atlantique et Pacifique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650992"/>
            <a:ext cx="11045952" cy="576072"/>
          </a:xfrm>
          <a:prstGeom prst="roundRect">
            <a:avLst>
              <a:gd name="adj" fmla="val 8000"/>
            </a:avLst>
          </a:prstGeom>
          <a:solidFill>
            <a:srgbClr val="0B263B"/>
          </a:solidFill>
          <a:ln w="12700">
            <a:solidFill>
              <a:srgbClr val="16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" y="5806440"/>
            <a:ext cx="105338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73D8FF"/>
                </a:solidFill>
                <a:latin typeface="Inter"/>
              </a:rPr>
              <a:t>IDÉE-CLÉ  </a:t>
            </a:r>
            <a:r>
              <a:rPr sz="1500" b="0">
                <a:solidFill>
                  <a:srgbClr val="F4F8FB"/>
                </a:solidFill>
                <a:latin typeface="Inter"/>
              </a:rPr>
              <a:t>Le climat ouvre l’espace ; </a:t>
            </a:r>
            <a:r>
              <a:rPr sz="1500" b="1">
                <a:solidFill>
                  <a:srgbClr val="FFB36B"/>
                </a:solidFill>
                <a:latin typeface="Inter"/>
              </a:rPr>
              <a:t>la rivalité le militarise.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30352" y="6510528"/>
            <a:ext cx="11128248" cy="0"/>
          </a:xfrm>
          <a:prstGeom prst="line">
            <a:avLst/>
          </a:prstGeom>
          <a:ln w="10160">
            <a:solidFill>
              <a:srgbClr val="163C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30352" y="6556248"/>
            <a:ext cx="9875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895A8"/>
                </a:solidFill>
                <a:latin typeface="Inter"/>
              </a:rPr>
              <a:t>Source : NSIDC, minimum annuel de la banquise, 2025.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82528" y="6547104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7895A8"/>
                </a:solidFill>
                <a:latin typeface="Inter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347472"/>
            <a:ext cx="1920240" cy="283464"/>
          </a:xfrm>
          <a:prstGeom prst="roundRect">
            <a:avLst>
              <a:gd name="adj" fmla="val 8000"/>
            </a:avLst>
          </a:prstGeom>
          <a:solidFill>
            <a:srgbClr val="163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61188"/>
            <a:ext cx="19202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73D8FF"/>
                </a:solidFill>
                <a:latin typeface="Inter"/>
              </a:rPr>
              <a:t>LA CARTE DU RAPPORT DE FORCE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38328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7895A8"/>
                </a:solidFill>
                <a:latin typeface="Inte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68096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F4F8FB"/>
                </a:solidFill>
                <a:latin typeface="Inter"/>
              </a:rPr>
              <a:t>8 États arctiques — désormais 7 alliés face à la Russie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FC4D3"/>
                </a:solidFill>
                <a:latin typeface="Inter"/>
              </a:rPr>
              <a:t>L’élargissement de l’OTAN transforme la géographie stratégique du Nord.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28800"/>
            <a:ext cx="6812280" cy="4462272"/>
          </a:xfrm>
          <a:prstGeom prst="roundRect">
            <a:avLst>
              <a:gd name="adj" fmla="val 8000"/>
            </a:avLst>
          </a:prstGeom>
          <a:solidFill>
            <a:srgbClr val="0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te_arcti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920240"/>
            <a:ext cx="4434840" cy="4434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83480" y="2212848"/>
            <a:ext cx="786384" cy="283464"/>
          </a:xfrm>
          <a:prstGeom prst="roundRect">
            <a:avLst>
              <a:gd name="adj" fmla="val 8000"/>
            </a:avLst>
          </a:prstGeom>
          <a:solidFill>
            <a:srgbClr val="2EB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2226564"/>
            <a:ext cx="786384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71A2B"/>
                </a:solidFill>
                <a:latin typeface="Inter"/>
              </a:rPr>
              <a:t>OTAN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2212848"/>
            <a:ext cx="1005840" cy="283464"/>
          </a:xfrm>
          <a:prstGeom prst="roundRect">
            <a:avLst>
              <a:gd name="adj" fmla="val 8000"/>
            </a:avLst>
          </a:prstGeom>
          <a:solidFill>
            <a:srgbClr val="F0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0" y="2226564"/>
            <a:ext cx="100584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71A2B"/>
                </a:solidFill>
                <a:latin typeface="Inter"/>
              </a:rPr>
              <a:t>RUSSIE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688336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D166"/>
                </a:solidFill>
                <a:latin typeface="Inter"/>
              </a:rPr>
              <a:t>Route maritime du Nord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971800"/>
            <a:ext cx="15544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895A8"/>
                </a:solidFill>
                <a:latin typeface="Inter"/>
              </a:rPr>
              <a:t>schématique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1901952"/>
            <a:ext cx="3977639" cy="1115568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2075688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73D8FF"/>
                </a:solidFill>
                <a:latin typeface="Inter"/>
              </a:rPr>
              <a:t>7 /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084832"/>
            <a:ext cx="21214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4F8FB"/>
                </a:solidFill>
                <a:latin typeface="Inter"/>
              </a:rPr>
              <a:t>États arctiques
sont membres de l’OTAN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35240" y="3246120"/>
            <a:ext cx="3977639" cy="1115568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36992" y="3419856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FB36B"/>
                </a:solidFill>
                <a:latin typeface="Inter"/>
              </a:rPr>
              <a:t>1 340 km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3429000"/>
            <a:ext cx="21214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4F8FB"/>
                </a:solidFill>
                <a:latin typeface="Inter"/>
              </a:rPr>
              <a:t>frontière terrestre
Finlande–Russie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35240" y="4590288"/>
            <a:ext cx="3977639" cy="1115568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36992" y="4764024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66D1A5"/>
                </a:solidFill>
                <a:latin typeface="Inter"/>
              </a:rPr>
              <a:t>0 côte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4773168"/>
            <a:ext cx="21214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4F8FB"/>
                </a:solidFill>
                <a:latin typeface="Inter"/>
              </a:rPr>
              <a:t>pour la Chine,
acteur non riverain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5943600"/>
            <a:ext cx="3977639" cy="347472"/>
          </a:xfrm>
          <a:prstGeom prst="roundRect">
            <a:avLst>
              <a:gd name="adj" fmla="val 8000"/>
            </a:avLst>
          </a:prstGeom>
          <a:solidFill>
            <a:srgbClr val="163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4112" y="6007608"/>
            <a:ext cx="3703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4F8FB"/>
                </a:solidFill>
                <a:latin typeface="Inter"/>
              </a:rPr>
              <a:t>Un arc allié quasi continu : Alaska → Finlande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0352" y="6510528"/>
            <a:ext cx="11128248" cy="0"/>
          </a:xfrm>
          <a:prstGeom prst="line">
            <a:avLst/>
          </a:prstGeom>
          <a:ln w="10160">
            <a:solidFill>
              <a:srgbClr val="163C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30352" y="6556248"/>
            <a:ext cx="9875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895A8"/>
                </a:solidFill>
                <a:latin typeface="Inter"/>
              </a:rPr>
              <a:t>Sources : OTAN (adhésions Finlande 2023, Suède 2024) ; carte Natural Earth, adaptée.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82528" y="6547104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7895A8"/>
                </a:solidFill>
                <a:latin typeface="Inter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347472"/>
            <a:ext cx="1097280" cy="283464"/>
          </a:xfrm>
          <a:prstGeom prst="roundRect">
            <a:avLst>
              <a:gd name="adj" fmla="val 8000"/>
            </a:avLst>
          </a:prstGeom>
          <a:solidFill>
            <a:srgbClr val="163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61188"/>
            <a:ext cx="109728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73D8FF"/>
                </a:solidFill>
                <a:latin typeface="Inter"/>
              </a:rPr>
              <a:t>LA POSTURE RUSSE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38328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7895A8"/>
                </a:solidFill>
                <a:latin typeface="Inter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68096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F4F8FB"/>
                </a:solidFill>
                <a:latin typeface="Inter"/>
              </a:rPr>
              <a:t>Le « bastion » du Nord : protéger pour pouvoir frapper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FC4D3"/>
                </a:solidFill>
                <a:latin typeface="Inter"/>
              </a:rPr>
              <a:t>La péninsule de Kola concentre dissuasion nucléaire et déni d’accès.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47088"/>
            <a:ext cx="5596128" cy="4315968"/>
          </a:xfrm>
          <a:prstGeom prst="roundRect">
            <a:avLst>
              <a:gd name="adj" fmla="val 8000"/>
            </a:avLst>
          </a:prstGeom>
          <a:solidFill>
            <a:srgbClr val="0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46504" y="2368296"/>
            <a:ext cx="3236976" cy="3236976"/>
          </a:xfrm>
          <a:prstGeom prst="ellipse">
            <a:avLst/>
          </a:prstGeom>
          <a:solidFill>
            <a:srgbClr val="0B263B"/>
          </a:solidFill>
          <a:ln w="25400">
            <a:solidFill>
              <a:srgbClr val="16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21992" y="2843784"/>
            <a:ext cx="2286000" cy="2286000"/>
          </a:xfrm>
          <a:prstGeom prst="ellipse">
            <a:avLst/>
          </a:prstGeom>
          <a:solidFill>
            <a:srgbClr val="102F45"/>
          </a:solidFill>
          <a:ln w="25400">
            <a:solidFill>
              <a:srgbClr val="F06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15768" y="3337560"/>
            <a:ext cx="1298448" cy="1298448"/>
          </a:xfrm>
          <a:prstGeom prst="ellipse">
            <a:avLst/>
          </a:prstGeom>
          <a:solidFill>
            <a:srgbClr val="F0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9504" y="3694176"/>
            <a:ext cx="950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071A2B"/>
                </a:solidFill>
                <a:latin typeface="Inter"/>
              </a:rPr>
              <a:t>KOLA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3512" y="4005072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A2B"/>
                </a:solidFill>
                <a:latin typeface="Inter"/>
              </a:rPr>
              <a:t>SNLE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350008"/>
            <a:ext cx="4133087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6B6B"/>
                </a:solidFill>
                <a:latin typeface="Inter"/>
              </a:rPr>
              <a:t>DÉFENSE AÉRIENNE · MISSILES CÔTIERS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5358384"/>
            <a:ext cx="4133087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AFC4D3"/>
                </a:solidFill>
                <a:latin typeface="Inter"/>
              </a:rPr>
              <a:t>SOUS-MARINS · AVIATION · CAPTEURS</a:t>
            </a:r>
          </a:p>
        </p:txBody>
      </p:sp>
      <p:sp>
        <p:nvSpPr>
          <p:cNvPr id="15" name="Chevron 14"/>
          <p:cNvSpPr/>
          <p:nvPr/>
        </p:nvSpPr>
        <p:spPr>
          <a:xfrm>
            <a:off x="5285232" y="3675887"/>
            <a:ext cx="566928" cy="658368"/>
          </a:xfrm>
          <a:prstGeom prst="chevron">
            <a:avLst/>
          </a:prstGeom>
          <a:solidFill>
            <a:srgbClr val="F0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82896" y="4480560"/>
            <a:ext cx="1389888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7895A8"/>
                </a:solidFill>
                <a:latin typeface="Inter"/>
              </a:rPr>
              <a:t>VERS
L’ATLANTIQUE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10528" y="1901952"/>
            <a:ext cx="5102352" cy="841248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57416" y="2093976"/>
            <a:ext cx="4206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6B6B"/>
                </a:solidFill>
                <a:latin typeface="Inter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78624" y="2020824"/>
            <a:ext cx="14173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4F8FB"/>
                </a:solidFill>
                <a:latin typeface="Inter"/>
              </a:rPr>
              <a:t>DISSUASION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68512" y="2002536"/>
            <a:ext cx="26609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FC4D3"/>
                </a:solidFill>
                <a:latin typeface="Inter"/>
              </a:rPr>
              <a:t>Protéger les sous-marins nucléaires stratégiques — capacité de seconde frappe.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10528" y="2926080"/>
            <a:ext cx="5102352" cy="841248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57416" y="3118104"/>
            <a:ext cx="4206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6B6B"/>
                </a:solidFill>
                <a:latin typeface="Inter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78624" y="3044952"/>
            <a:ext cx="14173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4F8FB"/>
                </a:solidFill>
                <a:latin typeface="Inter"/>
              </a:rPr>
              <a:t>DÉNI D’ACCÈS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68512" y="3026664"/>
            <a:ext cx="26609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FC4D3"/>
                </a:solidFill>
                <a:latin typeface="Inter"/>
              </a:rPr>
              <a:t>S-300/S-400, missiles côtiers, radars et aviation en couches successives.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10528" y="3950208"/>
            <a:ext cx="5102352" cy="841248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57416" y="4142232"/>
            <a:ext cx="4206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6B6B"/>
                </a:solidFill>
                <a:latin typeface="Inter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78624" y="4069080"/>
            <a:ext cx="14173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4F8FB"/>
                </a:solidFill>
                <a:latin typeface="Inter"/>
              </a:rPr>
              <a:t>ROUTE DU NORD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68512" y="4050792"/>
            <a:ext cx="26609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FC4D3"/>
                </a:solidFill>
                <a:latin typeface="Inter"/>
              </a:rPr>
              <a:t>Bases et capteurs soutiennent contrôle, secours et souveraineté revendiquée.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10528" y="4974336"/>
            <a:ext cx="5102352" cy="841248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57416" y="5166360"/>
            <a:ext cx="4206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6B6B"/>
                </a:solidFill>
                <a:latin typeface="Inter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78624" y="5093208"/>
            <a:ext cx="14173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4F8FB"/>
                </a:solidFill>
                <a:latin typeface="Inter"/>
              </a:rPr>
              <a:t>DOUBLE USAGE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68512" y="5074920"/>
            <a:ext cx="26609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FC4D3"/>
                </a:solidFill>
                <a:latin typeface="Inter"/>
              </a:rPr>
              <a:t>Une posture défensive pour Moscou peut menacer les renforts alliés.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10528" y="6007608"/>
            <a:ext cx="5102352" cy="182880"/>
          </a:xfrm>
          <a:prstGeom prst="roundRect">
            <a:avLst>
              <a:gd name="adj" fmla="val 8000"/>
            </a:avLst>
          </a:prstGeom>
          <a:solidFill>
            <a:srgbClr val="F0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530352" y="6510528"/>
            <a:ext cx="11128248" cy="0"/>
          </a:xfrm>
          <a:prstGeom prst="line">
            <a:avLst/>
          </a:prstGeom>
          <a:ln w="10160">
            <a:solidFill>
              <a:srgbClr val="163C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30352" y="6556248"/>
            <a:ext cx="9875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895A8"/>
                </a:solidFill>
                <a:latin typeface="Inter"/>
              </a:rPr>
              <a:t>Sources : CSIS, The Ice Curtain ; Russian Arctic Threat.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82528" y="6547104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7895A8"/>
                </a:solidFill>
                <a:latin typeface="Inter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347472"/>
            <a:ext cx="1165860" cy="283464"/>
          </a:xfrm>
          <a:prstGeom prst="roundRect">
            <a:avLst>
              <a:gd name="adj" fmla="val 8000"/>
            </a:avLst>
          </a:prstGeom>
          <a:solidFill>
            <a:srgbClr val="163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61188"/>
            <a:ext cx="11658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73D8FF"/>
                </a:solidFill>
                <a:latin typeface="Inter"/>
              </a:rPr>
              <a:t>LA RÉPONSE ALLIÉE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38328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7895A8"/>
                </a:solidFill>
                <a:latin typeface="Inter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68096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F4F8FB"/>
                </a:solidFill>
                <a:latin typeface="Inter"/>
              </a:rPr>
              <a:t>L’OTAN se « nordifie » en quatre étapes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FC4D3"/>
                </a:solidFill>
                <a:latin typeface="Inter"/>
              </a:rPr>
              <a:t>L’intégration politique devient une architecture opérationnelle.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78408" y="3493008"/>
            <a:ext cx="10222992" cy="0"/>
          </a:xfrm>
          <a:prstGeom prst="line">
            <a:avLst/>
          </a:prstGeom>
          <a:ln w="50800">
            <a:solidFill>
              <a:srgbClr val="163C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978408" y="3246120"/>
            <a:ext cx="493776" cy="493776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3337560"/>
            <a:ext cx="4937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A2B"/>
                </a:solidFill>
                <a:latin typeface="Inter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847088"/>
            <a:ext cx="2377440" cy="1170432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993392"/>
            <a:ext cx="95097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6B6B"/>
                </a:solidFill>
                <a:latin typeface="Inter"/>
              </a:rPr>
              <a:t>2022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9384" y="2011680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F4F8FB"/>
                </a:solidFill>
                <a:latin typeface="Inter"/>
              </a:rPr>
              <a:t>RUPTURE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2404872"/>
            <a:ext cx="18836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FC4D3"/>
                </a:solidFill>
                <a:latin typeface="Inter"/>
              </a:rPr>
              <a:t>Guerre en Ukraine
Coopération politique gelée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25296" y="3017520"/>
            <a:ext cx="0" cy="228600"/>
          </a:xfrm>
          <a:prstGeom prst="line">
            <a:avLst/>
          </a:prstGeom>
          <a:ln w="1778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3675887" y="3246120"/>
            <a:ext cx="493776" cy="493776"/>
          </a:xfrm>
          <a:prstGeom prst="ellipse">
            <a:avLst/>
          </a:prstGeom>
          <a:solidFill>
            <a:srgbClr val="73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5887" y="3337560"/>
            <a:ext cx="4937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A2B"/>
                </a:solidFill>
                <a:latin typeface="Inter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47287" y="3913632"/>
            <a:ext cx="2377440" cy="1170432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5887" y="4059936"/>
            <a:ext cx="95097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73D8FF"/>
                </a:solidFill>
                <a:latin typeface="Inter"/>
              </a:rPr>
              <a:t>2023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6864" y="4078224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F4F8FB"/>
                </a:solidFill>
                <a:latin typeface="Inter"/>
              </a:rPr>
              <a:t>FINLANDE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75887" y="4471416"/>
            <a:ext cx="18836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FC4D3"/>
                </a:solidFill>
                <a:latin typeface="Inter"/>
              </a:rPr>
              <a:t>Adhésion à l’OTAN
Frontière +1 340 km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922775" y="3739896"/>
            <a:ext cx="0" cy="173736"/>
          </a:xfrm>
          <a:prstGeom prst="line">
            <a:avLst/>
          </a:prstGeom>
          <a:ln w="17780">
            <a:solidFill>
              <a:srgbClr val="73D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6373368" y="3246120"/>
            <a:ext cx="493776" cy="493776"/>
          </a:xfrm>
          <a:prstGeom prst="ellipse">
            <a:avLst/>
          </a:prstGeom>
          <a:solidFill>
            <a:srgbClr val="2EB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3368" y="3337560"/>
            <a:ext cx="4937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A2B"/>
                </a:solidFill>
                <a:latin typeface="Inter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44768" y="1847088"/>
            <a:ext cx="2377440" cy="1170432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3368" y="1993392"/>
            <a:ext cx="95097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BCE8"/>
                </a:solidFill>
                <a:latin typeface="Inter"/>
              </a:rPr>
              <a:t>2024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4344" y="2011680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F4F8FB"/>
                </a:solidFill>
                <a:latin typeface="Inter"/>
              </a:rPr>
              <a:t>SUÈDE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3368" y="2404872"/>
            <a:ext cx="18836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FC4D3"/>
                </a:solidFill>
                <a:latin typeface="Inter"/>
              </a:rPr>
              <a:t>Adhésion à l’OTAN
Nordiques réunis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620256" y="3017520"/>
            <a:ext cx="0" cy="228600"/>
          </a:xfrm>
          <a:prstGeom prst="line">
            <a:avLst/>
          </a:prstGeom>
          <a:ln w="17780">
            <a:solidFill>
              <a:srgbClr val="2EBC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070848" y="3246120"/>
            <a:ext cx="493776" cy="493776"/>
          </a:xfrm>
          <a:prstGeom prst="ellipse">
            <a:avLst/>
          </a:prstGeom>
          <a:solidFill>
            <a:srgbClr val="FFB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70848" y="3337560"/>
            <a:ext cx="4937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A2B"/>
                </a:solidFill>
                <a:latin typeface="Inter"/>
              </a:rPr>
              <a:t>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842248" y="3913632"/>
            <a:ext cx="2377440" cy="1170432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70848" y="4059936"/>
            <a:ext cx="95097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B36B"/>
                </a:solidFill>
                <a:latin typeface="Inter"/>
              </a:rPr>
              <a:t>2025–26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21824" y="4078224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F4F8FB"/>
                </a:solidFill>
                <a:latin typeface="Inter"/>
              </a:rPr>
              <a:t>INTÉGRATION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70848" y="4471416"/>
            <a:ext cx="18836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FC4D3"/>
                </a:solidFill>
                <a:latin typeface="Inter"/>
              </a:rPr>
              <a:t>JFC Norfolk · FLF Finland
Arctic Sentry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17736" y="3739896"/>
            <a:ext cx="0" cy="173736"/>
          </a:xfrm>
          <a:prstGeom prst="line">
            <a:avLst/>
          </a:prstGeom>
          <a:ln w="17780">
            <a:solidFill>
              <a:srgbClr val="FFB3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94360" y="5742432"/>
            <a:ext cx="10972800" cy="502920"/>
          </a:xfrm>
          <a:prstGeom prst="roundRect">
            <a:avLst>
              <a:gd name="adj" fmla="val 8000"/>
            </a:avLst>
          </a:prstGeom>
          <a:solidFill>
            <a:srgbClr val="0B263B"/>
          </a:solidFill>
          <a:ln w="12700">
            <a:solidFill>
              <a:srgbClr val="16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5888736"/>
            <a:ext cx="10515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B36B"/>
                </a:solidFill>
                <a:latin typeface="Inter"/>
              </a:rPr>
              <a:t>ARCTIC SENTRY  </a:t>
            </a:r>
            <a:r>
              <a:rPr sz="1200" b="0">
                <a:solidFill>
                  <a:srgbClr val="F4F8FB"/>
                </a:solidFill>
                <a:latin typeface="Inter"/>
              </a:rPr>
              <a:t>activité multidomaine dirigée par JFC Norfolk ; exercices et vigilance réunis.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30352" y="6510528"/>
            <a:ext cx="11128248" cy="0"/>
          </a:xfrm>
          <a:prstGeom prst="line">
            <a:avLst/>
          </a:prstGeom>
          <a:ln w="10160">
            <a:solidFill>
              <a:srgbClr val="163C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30352" y="6556248"/>
            <a:ext cx="9875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895A8"/>
                </a:solidFill>
                <a:latin typeface="Inter"/>
              </a:rPr>
              <a:t>Sources : OTAN, 11 février et 8 juin 2026 ; JFC Norfolk, 5 décembre 2025.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82528" y="6547104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7895A8"/>
                </a:solidFill>
                <a:latin typeface="Inter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347472"/>
            <a:ext cx="1303020" cy="283464"/>
          </a:xfrm>
          <a:prstGeom prst="roundRect">
            <a:avLst>
              <a:gd name="adj" fmla="val 8000"/>
            </a:avLst>
          </a:prstGeom>
          <a:solidFill>
            <a:srgbClr val="163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61188"/>
            <a:ext cx="13030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73D8FF"/>
                </a:solidFill>
                <a:latin typeface="Inter"/>
              </a:rPr>
              <a:t>LES ZONES SENSIBLES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38328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7895A8"/>
                </a:solidFill>
                <a:latin typeface="Inter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68096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F4F8FB"/>
                </a:solidFill>
                <a:latin typeface="Inter"/>
              </a:rPr>
              <a:t>Trois espaces de friction — trois logiques différentes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FC4D3"/>
                </a:solidFill>
                <a:latin typeface="Inter"/>
              </a:rPr>
              <a:t>Le risque vient moins d’une bataille unique que d’incidents reliés entre eux.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38528"/>
            <a:ext cx="3456432" cy="4169663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5528" y="2176272"/>
            <a:ext cx="566928" cy="283464"/>
          </a:xfrm>
          <a:prstGeom prst="roundRect">
            <a:avLst>
              <a:gd name="adj" fmla="val 8000"/>
            </a:avLst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2189988"/>
            <a:ext cx="56692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71A2B"/>
                </a:solidFill>
                <a:latin typeface="Inter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642616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4F8FB"/>
                </a:solidFill>
                <a:latin typeface="Inter"/>
              </a:rPr>
              <a:t>KOLA · BARENTS · GIUK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3026664"/>
            <a:ext cx="29260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6B6B"/>
                </a:solidFill>
                <a:latin typeface="Inter"/>
              </a:rPr>
              <a:t>Dissuasion et Atlantique</a:t>
            </a:r>
          </a:p>
        </p:txBody>
      </p:sp>
      <p:sp>
        <p:nvSpPr>
          <p:cNvPr id="12" name="Oval 11"/>
          <p:cNvSpPr/>
          <p:nvPr/>
        </p:nvSpPr>
        <p:spPr>
          <a:xfrm>
            <a:off x="813816" y="3739896"/>
            <a:ext cx="109728" cy="109728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6850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FC4D3"/>
                </a:solidFill>
                <a:latin typeface="Inter"/>
              </a:rPr>
              <a:t>Sous-marins nucléaires</a:t>
            </a:r>
          </a:p>
        </p:txBody>
      </p:sp>
      <p:sp>
        <p:nvSpPr>
          <p:cNvPr id="14" name="Oval 13"/>
          <p:cNvSpPr/>
          <p:nvPr/>
        </p:nvSpPr>
        <p:spPr>
          <a:xfrm>
            <a:off x="813816" y="4178807"/>
            <a:ext cx="109728" cy="109728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12394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FC4D3"/>
                </a:solidFill>
                <a:latin typeface="Inter"/>
              </a:rPr>
              <a:t>Lutte anti-sous-marine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" y="4617720"/>
            <a:ext cx="109728" cy="109728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56285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FC4D3"/>
                </a:solidFill>
                <a:latin typeface="Inter"/>
              </a:rPr>
              <a:t>Renforts et câbles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" y="5221224"/>
            <a:ext cx="3017520" cy="621792"/>
          </a:xfrm>
          <a:prstGeom prst="roundRect">
            <a:avLst>
              <a:gd name="adj" fmla="val 8000"/>
            </a:avLst>
          </a:prstGeom>
          <a:solidFill>
            <a:srgbClr val="0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5358384"/>
            <a:ext cx="268833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4F8FB"/>
                </a:solidFill>
                <a:latin typeface="Inter"/>
              </a:rPr>
              <a:t>RISQUE : mauvaise interprétation d’une opération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4256" y="1938528"/>
            <a:ext cx="3456432" cy="4169663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62856" y="2176272"/>
            <a:ext cx="566928" cy="283464"/>
          </a:xfrm>
          <a:prstGeom prst="roundRect">
            <a:avLst>
              <a:gd name="adj" fmla="val 8000"/>
            </a:avLst>
          </a:prstGeom>
          <a:solidFill>
            <a:srgbClr val="73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62856" y="2189988"/>
            <a:ext cx="56692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71A2B"/>
                </a:solidFill>
                <a:latin typeface="Inter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2856" y="2642616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4F8FB"/>
                </a:solidFill>
                <a:latin typeface="Inter"/>
              </a:rPr>
              <a:t>GROENLAND · AMÉRIQUE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2856" y="3026664"/>
            <a:ext cx="29260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3D8FF"/>
                </a:solidFill>
                <a:latin typeface="Inter"/>
              </a:rPr>
              <a:t>Alerte et espace</a:t>
            </a:r>
          </a:p>
        </p:txBody>
      </p:sp>
      <p:sp>
        <p:nvSpPr>
          <p:cNvPr id="25" name="Oval 24"/>
          <p:cNvSpPr/>
          <p:nvPr/>
        </p:nvSpPr>
        <p:spPr>
          <a:xfrm>
            <a:off x="4581144" y="3739896"/>
            <a:ext cx="109728" cy="109728"/>
          </a:xfrm>
          <a:prstGeom prst="ellipse">
            <a:avLst/>
          </a:prstGeom>
          <a:solidFill>
            <a:srgbClr val="73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18888" y="36850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FC4D3"/>
                </a:solidFill>
                <a:latin typeface="Inter"/>
              </a:rPr>
              <a:t>Radar et défense antimissile</a:t>
            </a:r>
          </a:p>
        </p:txBody>
      </p:sp>
      <p:sp>
        <p:nvSpPr>
          <p:cNvPr id="27" name="Oval 26"/>
          <p:cNvSpPr/>
          <p:nvPr/>
        </p:nvSpPr>
        <p:spPr>
          <a:xfrm>
            <a:off x="4581144" y="4178807"/>
            <a:ext cx="109728" cy="109728"/>
          </a:xfrm>
          <a:prstGeom prst="ellipse">
            <a:avLst/>
          </a:prstGeom>
          <a:solidFill>
            <a:srgbClr val="73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18888" y="412394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FC4D3"/>
                </a:solidFill>
                <a:latin typeface="Inter"/>
              </a:rPr>
              <a:t>Souveraineté groenlandaise</a:t>
            </a:r>
          </a:p>
        </p:txBody>
      </p:sp>
      <p:sp>
        <p:nvSpPr>
          <p:cNvPr id="29" name="Oval 28"/>
          <p:cNvSpPr/>
          <p:nvPr/>
        </p:nvSpPr>
        <p:spPr>
          <a:xfrm>
            <a:off x="4581144" y="4617720"/>
            <a:ext cx="109728" cy="109728"/>
          </a:xfrm>
          <a:prstGeom prst="ellipse">
            <a:avLst/>
          </a:prstGeom>
          <a:solidFill>
            <a:srgbClr val="73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18888" y="456285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FC4D3"/>
                </a:solidFill>
                <a:latin typeface="Inter"/>
              </a:rPr>
              <a:t>Accès aux infrastructures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53712" y="5221224"/>
            <a:ext cx="3017520" cy="621792"/>
          </a:xfrm>
          <a:prstGeom prst="roundRect">
            <a:avLst>
              <a:gd name="adj" fmla="val 8000"/>
            </a:avLst>
          </a:prstGeom>
          <a:solidFill>
            <a:srgbClr val="0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18304" y="5358384"/>
            <a:ext cx="268833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4F8FB"/>
                </a:solidFill>
                <a:latin typeface="Inter"/>
              </a:rPr>
              <a:t>RISQUE : pression politique et dual-use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01583" y="1938528"/>
            <a:ext cx="3456432" cy="4169663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330183" y="2176272"/>
            <a:ext cx="566928" cy="283464"/>
          </a:xfrm>
          <a:prstGeom prst="roundRect">
            <a:avLst>
              <a:gd name="adj" fmla="val 8000"/>
            </a:avLst>
          </a:prstGeom>
          <a:solidFill>
            <a:srgbClr val="FFB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30183" y="2189988"/>
            <a:ext cx="56692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71A2B"/>
                </a:solidFill>
                <a:latin typeface="Inter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0183" y="2642616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4F8FB"/>
                </a:solidFill>
                <a:latin typeface="Inter"/>
              </a:rPr>
              <a:t>BÉRING · ROUTE DU NORD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30183" y="3026664"/>
            <a:ext cx="29260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B36B"/>
                </a:solidFill>
                <a:latin typeface="Inter"/>
              </a:rPr>
              <a:t>Contrôle et coopération russo-chinoise</a:t>
            </a:r>
          </a:p>
        </p:txBody>
      </p:sp>
      <p:sp>
        <p:nvSpPr>
          <p:cNvPr id="38" name="Oval 37"/>
          <p:cNvSpPr/>
          <p:nvPr/>
        </p:nvSpPr>
        <p:spPr>
          <a:xfrm>
            <a:off x="8348471" y="3739896"/>
            <a:ext cx="109728" cy="109728"/>
          </a:xfrm>
          <a:prstGeom prst="ellipse">
            <a:avLst/>
          </a:prstGeom>
          <a:solidFill>
            <a:srgbClr val="FFB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86215" y="368503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FC4D3"/>
                </a:solidFill>
                <a:latin typeface="Inter"/>
              </a:rPr>
              <a:t>Régulation russe du passage</a:t>
            </a:r>
          </a:p>
        </p:txBody>
      </p:sp>
      <p:sp>
        <p:nvSpPr>
          <p:cNvPr id="40" name="Oval 39"/>
          <p:cNvSpPr/>
          <p:nvPr/>
        </p:nvSpPr>
        <p:spPr>
          <a:xfrm>
            <a:off x="8348471" y="4178807"/>
            <a:ext cx="109728" cy="109728"/>
          </a:xfrm>
          <a:prstGeom prst="ellipse">
            <a:avLst/>
          </a:prstGeom>
          <a:solidFill>
            <a:srgbClr val="FFB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86215" y="412394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FC4D3"/>
                </a:solidFill>
                <a:latin typeface="Inter"/>
              </a:rPr>
              <a:t>Patrouilles et exercices</a:t>
            </a:r>
          </a:p>
        </p:txBody>
      </p:sp>
      <p:sp>
        <p:nvSpPr>
          <p:cNvPr id="42" name="Oval 41"/>
          <p:cNvSpPr/>
          <p:nvPr/>
        </p:nvSpPr>
        <p:spPr>
          <a:xfrm>
            <a:off x="8348471" y="4617720"/>
            <a:ext cx="109728" cy="109728"/>
          </a:xfrm>
          <a:prstGeom prst="ellipse">
            <a:avLst/>
          </a:prstGeom>
          <a:solidFill>
            <a:srgbClr val="FFB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86215" y="456285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FC4D3"/>
                </a:solidFill>
                <a:latin typeface="Inter"/>
              </a:rPr>
              <a:t>Ports et énergie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321040" y="5221224"/>
            <a:ext cx="3017520" cy="621792"/>
          </a:xfrm>
          <a:prstGeom prst="roundRect">
            <a:avLst>
              <a:gd name="adj" fmla="val 8000"/>
            </a:avLst>
          </a:prstGeom>
          <a:solidFill>
            <a:srgbClr val="0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85632" y="5358384"/>
            <a:ext cx="268833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4F8FB"/>
                </a:solidFill>
                <a:latin typeface="Inter"/>
              </a:rPr>
              <a:t>RISQUE : zone grise, collision, brouillage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30352" y="6510528"/>
            <a:ext cx="11128248" cy="0"/>
          </a:xfrm>
          <a:prstGeom prst="line">
            <a:avLst/>
          </a:prstGeom>
          <a:ln w="10160">
            <a:solidFill>
              <a:srgbClr val="163C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30352" y="6556248"/>
            <a:ext cx="9875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895A8"/>
                </a:solidFill>
                <a:latin typeface="Inter"/>
              </a:rPr>
              <a:t>Sources : DoD, Arctic Strategy 2024 ; CSIS, 2025.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82528" y="6547104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7895A8"/>
                </a:solidFill>
                <a:latin typeface="Inter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347472"/>
            <a:ext cx="1303020" cy="283464"/>
          </a:xfrm>
          <a:prstGeom prst="roundRect">
            <a:avLst>
              <a:gd name="adj" fmla="val 8000"/>
            </a:avLst>
          </a:prstGeom>
          <a:solidFill>
            <a:srgbClr val="163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61188"/>
            <a:ext cx="13030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73D8FF"/>
                </a:solidFill>
                <a:latin typeface="Inter"/>
              </a:rPr>
              <a:t>LE TROISIÈME ACTEUR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38328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7895A8"/>
                </a:solidFill>
                <a:latin typeface="Inter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68096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F4F8FB"/>
                </a:solidFill>
                <a:latin typeface="Inter"/>
              </a:rPr>
              <a:t>La Chine : puissance polaire sans côte arctique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FC4D3"/>
                </a:solidFill>
                <a:latin typeface="Inter"/>
              </a:rPr>
              <a:t>Une influence réelle, mais une empreinte militaire encore limitée.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5138928" cy="4315968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50392" y="2167128"/>
            <a:ext cx="1024128" cy="283464"/>
          </a:xfrm>
          <a:prstGeom prst="roundRect">
            <a:avLst>
              <a:gd name="adj" fmla="val 8000"/>
            </a:avLst>
          </a:prstGeom>
          <a:solidFill>
            <a:srgbClr val="FFB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180844"/>
            <a:ext cx="102412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71A2B"/>
                </a:solidFill>
                <a:latin typeface="Inter"/>
              </a:rPr>
              <a:t>AMBITION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651760"/>
            <a:ext cx="13533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FFB36B"/>
                </a:solidFill>
                <a:latin typeface="Inter"/>
              </a:rPr>
              <a:t>2018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84831" y="2633472"/>
            <a:ext cx="312724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4F8FB"/>
                </a:solidFill>
                <a:latin typeface="Inter"/>
              </a:rPr>
              <a:t>Pékin se décrit comme
« État proche de l’Arctique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356616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B36B"/>
                </a:solidFill>
                <a:latin typeface="Inter"/>
              </a:rPr>
              <a:t>SCIENCE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84831" y="3566160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FC4D3"/>
                </a:solidFill>
                <a:latin typeface="Inter"/>
              </a:rPr>
              <a:t>stations, recherche, données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4096511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B36B"/>
                </a:solidFill>
                <a:latin typeface="Inter"/>
              </a:rPr>
              <a:t>ÉCONOMIE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84831" y="4096511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FC4D3"/>
                </a:solidFill>
                <a:latin typeface="Inter"/>
              </a:rPr>
              <a:t>GNL, minerais, infrastructures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62686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B36B"/>
                </a:solidFill>
                <a:latin typeface="Inter"/>
              </a:rPr>
              <a:t>ROUTES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84831" y="4626864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FC4D3"/>
                </a:solidFill>
                <a:latin typeface="Inter"/>
              </a:rPr>
              <a:t>« Route polaire de la soie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B36B"/>
                </a:solidFill>
                <a:latin typeface="Inter"/>
              </a:rPr>
              <a:t>PARTENARIAT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84831" y="5157216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FC4D3"/>
                </a:solidFill>
                <a:latin typeface="Inter"/>
              </a:rPr>
              <a:t>énergie et activités avec la Russie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89320" y="1874519"/>
            <a:ext cx="5623560" cy="4315968"/>
          </a:xfrm>
          <a:prstGeom prst="roundRect">
            <a:avLst>
              <a:gd name="adj" fmla="val 8000"/>
            </a:avLst>
          </a:prstGeom>
          <a:solidFill>
            <a:srgbClr val="0B263B"/>
          </a:solidFill>
          <a:ln w="12700">
            <a:solidFill>
              <a:srgbClr val="16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72784" y="2167128"/>
            <a:ext cx="914400" cy="283464"/>
          </a:xfrm>
          <a:prstGeom prst="roundRect">
            <a:avLst>
              <a:gd name="adj" fmla="val 8000"/>
            </a:avLst>
          </a:prstGeom>
          <a:solidFill>
            <a:srgbClr val="73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784" y="2180844"/>
            <a:ext cx="9144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71A2B"/>
                </a:solidFill>
                <a:latin typeface="Inter"/>
              </a:rPr>
              <a:t>LIMITES</a:t>
            </a:r>
          </a:p>
        </p:txBody>
      </p:sp>
      <p:sp>
        <p:nvSpPr>
          <p:cNvPr id="23" name="Oval 22"/>
          <p:cNvSpPr/>
          <p:nvPr/>
        </p:nvSpPr>
        <p:spPr>
          <a:xfrm>
            <a:off x="6291072" y="2770632"/>
            <a:ext cx="201168" cy="201168"/>
          </a:xfrm>
          <a:prstGeom prst="ellipse">
            <a:avLst/>
          </a:prstGeom>
          <a:solidFill>
            <a:srgbClr val="73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2724912"/>
            <a:ext cx="19019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4F8FB"/>
                </a:solidFill>
                <a:latin typeface="Inter"/>
              </a:rPr>
              <a:t>Aucune côte arctique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2724912"/>
            <a:ext cx="2670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FC4D3"/>
                </a:solidFill>
                <a:latin typeface="Inter"/>
              </a:rPr>
              <a:t>l’accès dépend d’États riverains</a:t>
            </a:r>
          </a:p>
        </p:txBody>
      </p:sp>
      <p:sp>
        <p:nvSpPr>
          <p:cNvPr id="26" name="Oval 25"/>
          <p:cNvSpPr/>
          <p:nvPr/>
        </p:nvSpPr>
        <p:spPr>
          <a:xfrm>
            <a:off x="6291072" y="3465576"/>
            <a:ext cx="201168" cy="201168"/>
          </a:xfrm>
          <a:prstGeom prst="ellipse">
            <a:avLst/>
          </a:prstGeom>
          <a:solidFill>
            <a:srgbClr val="73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400" y="3419856"/>
            <a:ext cx="19019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4F8FB"/>
                </a:solidFill>
                <a:latin typeface="Inter"/>
              </a:rPr>
              <a:t>Peu de bases permanentes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3419856"/>
            <a:ext cx="2670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FC4D3"/>
                </a:solidFill>
                <a:latin typeface="Inter"/>
              </a:rPr>
              <a:t>empreinte militaire non comparable</a:t>
            </a:r>
          </a:p>
        </p:txBody>
      </p:sp>
      <p:sp>
        <p:nvSpPr>
          <p:cNvPr id="29" name="Oval 28"/>
          <p:cNvSpPr/>
          <p:nvPr/>
        </p:nvSpPr>
        <p:spPr>
          <a:xfrm>
            <a:off x="6291072" y="4160520"/>
            <a:ext cx="201168" cy="201168"/>
          </a:xfrm>
          <a:prstGeom prst="ellipse">
            <a:avLst/>
          </a:prstGeom>
          <a:solidFill>
            <a:srgbClr val="73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4114800"/>
            <a:ext cx="19019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4F8FB"/>
                </a:solidFill>
                <a:latin typeface="Inter"/>
              </a:rPr>
              <a:t>Milieu très contraignant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4114800"/>
            <a:ext cx="2670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FC4D3"/>
                </a:solidFill>
                <a:latin typeface="Inter"/>
              </a:rPr>
              <a:t>glace, distance, secours, coûts</a:t>
            </a:r>
          </a:p>
        </p:txBody>
      </p:sp>
      <p:sp>
        <p:nvSpPr>
          <p:cNvPr id="32" name="Oval 31"/>
          <p:cNvSpPr/>
          <p:nvPr/>
        </p:nvSpPr>
        <p:spPr>
          <a:xfrm>
            <a:off x="6291072" y="4855464"/>
            <a:ext cx="201168" cy="201168"/>
          </a:xfrm>
          <a:prstGeom prst="ellipse">
            <a:avLst/>
          </a:prstGeom>
          <a:solidFill>
            <a:srgbClr val="73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9400" y="4809744"/>
            <a:ext cx="19019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4F8FB"/>
                </a:solidFill>
                <a:latin typeface="Inter"/>
              </a:rPr>
              <a:t>Relation asymétrique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9640" y="4809744"/>
            <a:ext cx="2670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FC4D3"/>
                </a:solidFill>
                <a:latin typeface="Inter"/>
              </a:rPr>
              <a:t>Moscou coopère sans céder le contrôle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81928" y="5605272"/>
            <a:ext cx="5029200" cy="347472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5687568"/>
            <a:ext cx="4800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73D8FF"/>
                </a:solidFill>
                <a:latin typeface="Inter"/>
              </a:rPr>
              <a:t>ACTEUR D’INFLUENCE ≠ PUISSANCE MILITAIRE DOMINANTE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30352" y="6510528"/>
            <a:ext cx="11128248" cy="0"/>
          </a:xfrm>
          <a:prstGeom prst="line">
            <a:avLst/>
          </a:prstGeom>
          <a:ln w="10160">
            <a:solidFill>
              <a:srgbClr val="163C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30352" y="6556248"/>
            <a:ext cx="9875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895A8"/>
                </a:solidFill>
                <a:latin typeface="Inter"/>
              </a:rPr>
              <a:t>Sources : Livre blanc chinois sur l’Arctique, 2018 ; DoD, 2024 ; CSIS, 2025.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82528" y="6547104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7895A8"/>
                </a:solidFill>
                <a:latin typeface="Inter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347472"/>
            <a:ext cx="1508760" cy="283464"/>
          </a:xfrm>
          <a:prstGeom prst="roundRect">
            <a:avLst>
              <a:gd name="adj" fmla="val 8000"/>
            </a:avLst>
          </a:prstGeom>
          <a:solidFill>
            <a:srgbClr val="163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61188"/>
            <a:ext cx="15087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73D8FF"/>
                </a:solidFill>
                <a:latin typeface="Inter"/>
              </a:rPr>
              <a:t>LE DILEMME DE SÉCURITÉ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38328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7895A8"/>
                </a:solidFill>
                <a:latin typeface="Inter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68096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F4F8FB"/>
                </a:solidFill>
                <a:latin typeface="Inter"/>
              </a:rPr>
              <a:t>Militarisation ne signifie pas guerre inévitable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FC4D3"/>
                </a:solidFill>
                <a:latin typeface="Inter"/>
              </a:rPr>
              <a:t>Le danger le plus crédible : l’escalade involontaire.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6629400" cy="4315968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167128"/>
            <a:ext cx="2834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6B6B"/>
                </a:solidFill>
                <a:latin typeface="Inter"/>
              </a:rPr>
              <a:t>LA BOUCLE D’ESCALADE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2880360"/>
            <a:ext cx="2084831" cy="950976"/>
          </a:xfrm>
          <a:prstGeom prst="roundRect">
            <a:avLst>
              <a:gd name="adj" fmla="val 8000"/>
            </a:avLst>
          </a:prstGeom>
          <a:solidFill>
            <a:srgbClr val="0B263B"/>
          </a:solidFill>
          <a:ln w="12700">
            <a:solidFill>
              <a:srgbClr val="16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4712" y="3063240"/>
            <a:ext cx="310896" cy="310896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4712" y="3127248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A2B"/>
                </a:solidFill>
                <a:latin typeface="Inter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035808"/>
            <a:ext cx="124358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4F8FB"/>
                </a:solidFill>
                <a:latin typeface="Inter"/>
              </a:rPr>
              <a:t>ACCÈS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3346704"/>
            <a:ext cx="12984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AFC4D3"/>
                </a:solidFill>
                <a:latin typeface="Inter"/>
              </a:rPr>
              <a:t>climat · routes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01568" y="2880360"/>
            <a:ext cx="2084831" cy="950976"/>
          </a:xfrm>
          <a:prstGeom prst="roundRect">
            <a:avLst>
              <a:gd name="adj" fmla="val 8000"/>
            </a:avLst>
          </a:prstGeom>
          <a:solidFill>
            <a:srgbClr val="0B263B"/>
          </a:solidFill>
          <a:ln w="12700">
            <a:solidFill>
              <a:srgbClr val="16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66160" y="3063240"/>
            <a:ext cx="310896" cy="310896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3127248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A2B"/>
                </a:solidFill>
                <a:latin typeface="Inter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14216" y="3035808"/>
            <a:ext cx="124358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4F8FB"/>
                </a:solidFill>
                <a:latin typeface="Inter"/>
              </a:rPr>
              <a:t>DÉPLOIEMENTS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4216" y="3346704"/>
            <a:ext cx="12984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AFC4D3"/>
                </a:solidFill>
                <a:latin typeface="Inter"/>
              </a:rPr>
              <a:t>bases · exercices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01568" y="4681728"/>
            <a:ext cx="2084831" cy="950976"/>
          </a:xfrm>
          <a:prstGeom prst="roundRect">
            <a:avLst>
              <a:gd name="adj" fmla="val 8000"/>
            </a:avLst>
          </a:prstGeom>
          <a:solidFill>
            <a:srgbClr val="0B263B"/>
          </a:solidFill>
          <a:ln w="12700">
            <a:solidFill>
              <a:srgbClr val="16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566160" y="4864608"/>
            <a:ext cx="310896" cy="310896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0" y="4928616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A2B"/>
                </a:solidFill>
                <a:latin typeface="Inter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14216" y="4837176"/>
            <a:ext cx="124358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4F8FB"/>
                </a:solidFill>
                <a:latin typeface="Inter"/>
              </a:rPr>
              <a:t>PERCEPTION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14216" y="5148072"/>
            <a:ext cx="12984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AFC4D3"/>
                </a:solidFill>
                <a:latin typeface="Inter"/>
              </a:rPr>
              <a:t>menace supposée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0120" y="4681728"/>
            <a:ext cx="2084831" cy="950976"/>
          </a:xfrm>
          <a:prstGeom prst="roundRect">
            <a:avLst>
              <a:gd name="adj" fmla="val 8000"/>
            </a:avLst>
          </a:prstGeom>
          <a:solidFill>
            <a:srgbClr val="0B263B"/>
          </a:solidFill>
          <a:ln w="12700">
            <a:solidFill>
              <a:srgbClr val="16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24712" y="4864608"/>
            <a:ext cx="310896" cy="310896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24712" y="4928616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A2B"/>
                </a:solidFill>
                <a:latin typeface="Inter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72768" y="4837176"/>
            <a:ext cx="124358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4F8FB"/>
                </a:solidFill>
                <a:latin typeface="Inter"/>
              </a:rPr>
              <a:t>RÉACTION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72768" y="5148072"/>
            <a:ext cx="12984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AFC4D3"/>
                </a:solidFill>
                <a:latin typeface="Inter"/>
              </a:rPr>
              <a:t>contre-mesures</a:t>
            </a:r>
          </a:p>
        </p:txBody>
      </p:sp>
      <p:sp>
        <p:nvSpPr>
          <p:cNvPr id="29" name="Chevron 28"/>
          <p:cNvSpPr/>
          <p:nvPr/>
        </p:nvSpPr>
        <p:spPr>
          <a:xfrm>
            <a:off x="3054096" y="3127248"/>
            <a:ext cx="274320" cy="420624"/>
          </a:xfrm>
          <a:prstGeom prst="chevron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hevron 29"/>
          <p:cNvSpPr/>
          <p:nvPr/>
        </p:nvSpPr>
        <p:spPr>
          <a:xfrm>
            <a:off x="4279392" y="4142232"/>
            <a:ext cx="274320" cy="420624"/>
          </a:xfrm>
          <a:prstGeom prst="chevron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evron 30"/>
          <p:cNvSpPr/>
          <p:nvPr/>
        </p:nvSpPr>
        <p:spPr>
          <a:xfrm>
            <a:off x="3054096" y="4928616"/>
            <a:ext cx="274320" cy="420624"/>
          </a:xfrm>
          <a:prstGeom prst="chevron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evron 31"/>
          <p:cNvSpPr/>
          <p:nvPr/>
        </p:nvSpPr>
        <p:spPr>
          <a:xfrm>
            <a:off x="1737360" y="4142232"/>
            <a:ext cx="274320" cy="420624"/>
          </a:xfrm>
          <a:prstGeom prst="chevron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605272" y="3246120"/>
            <a:ext cx="1060704" cy="1060704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87568" y="3584448"/>
            <a:ext cx="8961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71A2B"/>
                </a:solidFill>
                <a:latin typeface="Inter"/>
              </a:rPr>
              <a:t>INCIDENT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68112" y="4434840"/>
            <a:ext cx="13441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AFC4D3"/>
                </a:solidFill>
                <a:latin typeface="Inter"/>
              </a:rPr>
              <a:t>erreur · collision
brouillage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61504" y="1874519"/>
            <a:ext cx="4151376" cy="4315968"/>
          </a:xfrm>
          <a:prstGeom prst="roundRect">
            <a:avLst>
              <a:gd name="adj" fmla="val 8000"/>
            </a:avLst>
          </a:prstGeom>
          <a:solidFill>
            <a:srgbClr val="0B263B"/>
          </a:solidFill>
          <a:ln w="12700">
            <a:solidFill>
              <a:srgbClr val="16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63256" y="2167128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D1A5"/>
                </a:solidFill>
                <a:latin typeface="Inter"/>
              </a:rPr>
              <a:t>LES FREINS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3256" y="2706624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6D1A5"/>
                </a:solidFill>
                <a:latin typeface="Inter"/>
              </a:rPr>
              <a:t>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11312" y="2706624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4F8FB"/>
                </a:solidFill>
                <a:latin typeface="Inter"/>
              </a:rPr>
              <a:t>Dissuasion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55480" y="2706624"/>
            <a:ext cx="17190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AFC4D3"/>
                </a:solidFill>
                <a:latin typeface="Inter"/>
              </a:rPr>
              <a:t>coût d’un affrontement direct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63256" y="3392424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6D1A5"/>
                </a:solidFill>
                <a:latin typeface="Inter"/>
              </a:rP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11312" y="3392424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4F8FB"/>
                </a:solidFill>
                <a:latin typeface="Inter"/>
              </a:rPr>
              <a:t>Environnement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55480" y="3392424"/>
            <a:ext cx="17190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AFC4D3"/>
                </a:solidFill>
                <a:latin typeface="Inter"/>
              </a:rPr>
              <a:t>logistique lente et vulnérable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4078224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6D1A5"/>
                </a:solidFill>
                <a:latin typeface="Inter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11312" y="4078224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4F8FB"/>
                </a:solidFill>
                <a:latin typeface="Inter"/>
              </a:rPr>
              <a:t>Droit maritime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55480" y="4078224"/>
            <a:ext cx="17190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AFC4D3"/>
                </a:solidFill>
                <a:latin typeface="Inter"/>
              </a:rPr>
              <a:t>frontières largement délimitées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63256" y="4764024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6D1A5"/>
                </a:solidFill>
                <a:latin typeface="Inter"/>
              </a:rPr>
              <a:t>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11312" y="4764024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4F8FB"/>
                </a:solidFill>
                <a:latin typeface="Inter"/>
              </a:rPr>
              <a:t>Coopération ciblée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55480" y="4764024"/>
            <a:ext cx="17190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AFC4D3"/>
                </a:solidFill>
                <a:latin typeface="Inter"/>
              </a:rPr>
              <a:t>science, secours, contacts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754112" y="5577840"/>
            <a:ext cx="3547872" cy="347472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0" y="5669280"/>
            <a:ext cx="33101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AFC4D3"/>
                </a:solidFill>
                <a:latin typeface="Inter"/>
              </a:rPr>
              <a:t>Conseil de l’Arctique : sécurité exclue du mandat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0352" y="6510528"/>
            <a:ext cx="11128248" cy="0"/>
          </a:xfrm>
          <a:prstGeom prst="line">
            <a:avLst/>
          </a:prstGeom>
          <a:ln w="10160">
            <a:solidFill>
              <a:srgbClr val="163C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30352" y="6556248"/>
            <a:ext cx="9875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895A8"/>
                </a:solidFill>
                <a:latin typeface="Inter"/>
              </a:rPr>
              <a:t>Sources : Conseil de l’Arctique, 2025–2026 ; analyse de synthèse.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082528" y="6547104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7895A8"/>
                </a:solidFill>
                <a:latin typeface="Inter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347472"/>
            <a:ext cx="1097280" cy="283464"/>
          </a:xfrm>
          <a:prstGeom prst="roundRect">
            <a:avLst>
              <a:gd name="adj" fmla="val 8000"/>
            </a:avLst>
          </a:prstGeom>
          <a:solidFill>
            <a:srgbClr val="163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61188"/>
            <a:ext cx="109728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73D8FF"/>
                </a:solidFill>
                <a:latin typeface="Inter"/>
              </a:rPr>
              <a:t>PROJECTION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38328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7895A8"/>
                </a:solidFill>
                <a:latin typeface="Inter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68096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F4F8FB"/>
                </a:solidFill>
                <a:latin typeface="Inter"/>
              </a:rPr>
              <a:t>Quatre scénarios à l’horizon 2030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FC4D3"/>
                </a:solidFill>
                <a:latin typeface="Inter"/>
              </a:rPr>
              <a:t>Probabilité et impact ne se confondent pas.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7452360" cy="4297680"/>
          </a:xfrm>
          <a:prstGeom prst="roundRect">
            <a:avLst>
              <a:gd name="adj" fmla="val 8000"/>
            </a:avLst>
          </a:prstGeom>
          <a:solidFill>
            <a:srgbClr val="0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234440" y="5532120"/>
            <a:ext cx="6172200" cy="0"/>
          </a:xfrm>
          <a:prstGeom prst="line">
            <a:avLst/>
          </a:prstGeom>
          <a:ln w="16510">
            <a:solidFill>
              <a:srgbClr val="7895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234440" y="2395728"/>
            <a:ext cx="0" cy="3136392"/>
          </a:xfrm>
          <a:prstGeom prst="line">
            <a:avLst/>
          </a:prstGeom>
          <a:ln w="16510">
            <a:solidFill>
              <a:srgbClr val="7895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053328" y="5669280"/>
            <a:ext cx="1353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7895A8"/>
                </a:solidFill>
                <a:latin typeface="Inter"/>
              </a:rPr>
              <a:t>PROBABILITÉ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2258568"/>
            <a:ext cx="402336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7895A8"/>
                </a:solidFill>
                <a:latin typeface="Inter"/>
              </a:rPr>
              <a:t>IMPACT 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315968" y="2404872"/>
            <a:ext cx="0" cy="3127248"/>
          </a:xfrm>
          <a:prstGeom prst="line">
            <a:avLst/>
          </a:prstGeom>
          <a:ln w="12700">
            <a:solidFill>
              <a:srgbClr val="163C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234440" y="3968496"/>
            <a:ext cx="6172200" cy="0"/>
          </a:xfrm>
          <a:prstGeom prst="line">
            <a:avLst/>
          </a:prstGeom>
          <a:ln w="12700">
            <a:solidFill>
              <a:srgbClr val="163C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901952" y="2770632"/>
            <a:ext cx="1417320" cy="621792"/>
          </a:xfrm>
          <a:prstGeom prst="roundRect">
            <a:avLst>
              <a:gd name="adj" fmla="val 8000"/>
            </a:avLst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75104" y="2852927"/>
            <a:ext cx="127101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71A2B"/>
                </a:solidFill>
                <a:latin typeface="Inter"/>
              </a:rPr>
              <a:t>CONFLIT OUVERT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75104" y="3081527"/>
            <a:ext cx="12710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071A2B"/>
                </a:solidFill>
                <a:latin typeface="Inter"/>
              </a:rPr>
              <a:t>faible prob. · impact extrême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49240" y="3200400"/>
            <a:ext cx="1481328" cy="621792"/>
          </a:xfrm>
          <a:prstGeom prst="roundRect">
            <a:avLst>
              <a:gd name="adj" fmla="val 8000"/>
            </a:avLst>
          </a:prstGeom>
          <a:solidFill>
            <a:srgbClr val="FFB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2392" y="3282696"/>
            <a:ext cx="13350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71A2B"/>
                </a:solidFill>
                <a:latin typeface="Inter"/>
              </a:rPr>
              <a:t>ZONE GRISE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2392" y="3511296"/>
            <a:ext cx="13350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071A2B"/>
                </a:solidFill>
                <a:latin typeface="Inter"/>
              </a:rPr>
              <a:t>incident · sabotage · brouillage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65960" y="4590288"/>
            <a:ext cx="1847088" cy="621792"/>
          </a:xfrm>
          <a:prstGeom prst="roundRect">
            <a:avLst>
              <a:gd name="adj" fmla="val 8000"/>
            </a:avLst>
          </a:prstGeom>
          <a:solidFill>
            <a:srgbClr val="66D1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39112" y="4672583"/>
            <a:ext cx="170078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71A2B"/>
                </a:solidFill>
                <a:latin typeface="Inter"/>
              </a:rPr>
              <a:t>COOPÉRATION SÉLECTIVE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39112" y="4901183"/>
            <a:ext cx="17007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071A2B"/>
                </a:solidFill>
                <a:latin typeface="Inter"/>
              </a:rPr>
              <a:t>science · secours · pêche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01768" y="4407408"/>
            <a:ext cx="1783080" cy="621792"/>
          </a:xfrm>
          <a:prstGeom prst="roundRect">
            <a:avLst>
              <a:gd name="adj" fmla="val 8000"/>
            </a:avLst>
          </a:prstGeom>
          <a:solidFill>
            <a:srgbClr val="73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74920" y="4489704"/>
            <a:ext cx="163677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71A2B"/>
                </a:solidFill>
                <a:latin typeface="Inter"/>
              </a:rPr>
              <a:t>DISSUASION GÉRÉE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4718304"/>
            <a:ext cx="16367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071A2B"/>
                </a:solidFill>
                <a:latin typeface="Inter"/>
              </a:rPr>
              <a:t>scénario central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21040" y="1874519"/>
            <a:ext cx="3291840" cy="4297680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13648" y="2167128"/>
            <a:ext cx="822960" cy="283464"/>
          </a:xfrm>
          <a:prstGeom prst="roundRect">
            <a:avLst>
              <a:gd name="adj" fmla="val 8000"/>
            </a:avLst>
          </a:prstGeom>
          <a:solidFill>
            <a:srgbClr val="73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13648" y="2180844"/>
            <a:ext cx="82296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71A2B"/>
                </a:solidFill>
                <a:latin typeface="Inter"/>
              </a:rPr>
              <a:t>LECTURE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13648" y="2706624"/>
            <a:ext cx="269748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3D8FF"/>
                </a:solidFill>
                <a:latin typeface="Inter"/>
              </a:rPr>
              <a:t>Le plus probable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13648" y="3026664"/>
            <a:ext cx="2523744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4F8FB"/>
                </a:solidFill>
                <a:latin typeface="Inter"/>
              </a:rPr>
              <a:t>Une dissuasion tendue mais contenue.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613648" y="3749039"/>
            <a:ext cx="2688336" cy="0"/>
          </a:xfrm>
          <a:prstGeom prst="line">
            <a:avLst/>
          </a:prstGeom>
          <a:ln w="12700">
            <a:solidFill>
              <a:srgbClr val="163C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613648" y="3986784"/>
            <a:ext cx="269748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6B6B"/>
                </a:solidFill>
                <a:latin typeface="Inter"/>
              </a:rPr>
              <a:t>Le plus dangereux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13648" y="4306824"/>
            <a:ext cx="25237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4F8FB"/>
                </a:solidFill>
                <a:latin typeface="Inter"/>
              </a:rPr>
              <a:t>Un incident de zone grise qui touche une capacité nucléaire.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13648" y="5641848"/>
            <a:ext cx="25786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895A8"/>
                </a:solidFill>
                <a:latin typeface="Inter"/>
              </a:rPr>
              <a:t>Jugement analytique — pas une prévision certaine.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30352" y="6510528"/>
            <a:ext cx="11128248" cy="0"/>
          </a:xfrm>
          <a:prstGeom prst="line">
            <a:avLst/>
          </a:prstGeom>
          <a:ln w="10160">
            <a:solidFill>
              <a:srgbClr val="163C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30352" y="6556248"/>
            <a:ext cx="9875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895A8"/>
                </a:solidFill>
                <a:latin typeface="Inter"/>
              </a:rPr>
              <a:t>Scénarios construits à partir des tendances observées en 2024–2026.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82528" y="6547104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7895A8"/>
                </a:solidFill>
                <a:latin typeface="Inter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347472"/>
            <a:ext cx="1234439" cy="283464"/>
          </a:xfrm>
          <a:prstGeom prst="roundRect">
            <a:avLst>
              <a:gd name="adj" fmla="val 8000"/>
            </a:avLst>
          </a:prstGeom>
          <a:solidFill>
            <a:srgbClr val="163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61188"/>
            <a:ext cx="1234439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73D8FF"/>
                </a:solidFill>
                <a:latin typeface="Inter"/>
              </a:rPr>
              <a:t>ÉVITER L’ENGRENAGE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38328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7895A8"/>
                </a:solidFill>
                <a:latin typeface="Inter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68096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F4F8FB"/>
                </a:solidFill>
                <a:latin typeface="Inter"/>
              </a:rPr>
              <a:t>Quatre principes pour une sécurité soutenable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FC4D3"/>
                </a:solidFill>
                <a:latin typeface="Inter"/>
              </a:rPr>
              <a:t>Dissuader sans rendre chaque mouvement illisible.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11095"/>
            <a:ext cx="5440680" cy="1755648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41247" y="2185415"/>
            <a:ext cx="530352" cy="530352"/>
          </a:xfrm>
          <a:prstGeom prst="ellipse">
            <a:avLst/>
          </a:prstGeom>
          <a:solidFill>
            <a:srgbClr val="73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350008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71A2B"/>
                </a:solidFill>
                <a:latin typeface="Inter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194560"/>
            <a:ext cx="39959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4F8FB"/>
                </a:solidFill>
                <a:latin typeface="Inter"/>
              </a:rPr>
              <a:t>DISSUASION CRÉDIBLE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633472"/>
            <a:ext cx="3904487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AFC4D3"/>
                </a:solidFill>
                <a:latin typeface="Inter"/>
              </a:rPr>
              <a:t>Présence proportionnée, défense aérienne, capacités de secours.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54480" y="3328415"/>
            <a:ext cx="2880360" cy="73152"/>
          </a:xfrm>
          <a:prstGeom prst="roundRect">
            <a:avLst>
              <a:gd name="adj" fmla="val 8000"/>
            </a:avLst>
          </a:prstGeom>
          <a:solidFill>
            <a:srgbClr val="73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1911095"/>
            <a:ext cx="5440680" cy="1755648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2185415"/>
            <a:ext cx="530352" cy="530352"/>
          </a:xfrm>
          <a:prstGeom prst="ellipse">
            <a:avLst/>
          </a:prstGeom>
          <a:solidFill>
            <a:srgbClr val="66D1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350008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71A2B"/>
                </a:solidFill>
                <a:latin typeface="Inter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9752" y="2194560"/>
            <a:ext cx="39959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4F8FB"/>
                </a:solidFill>
                <a:latin typeface="Inter"/>
              </a:rPr>
              <a:t>TRANSPARENCE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9752" y="2633472"/>
            <a:ext cx="3904487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AFC4D3"/>
                </a:solidFill>
                <a:latin typeface="Inter"/>
              </a:rPr>
              <a:t>Notification d’exercices, canaux de crise, règles d’interception.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59752" y="3328415"/>
            <a:ext cx="2880360" cy="73152"/>
          </a:xfrm>
          <a:prstGeom prst="roundRect">
            <a:avLst>
              <a:gd name="adj" fmla="val 8000"/>
            </a:avLst>
          </a:prstGeom>
          <a:solidFill>
            <a:srgbClr val="66D1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4023360"/>
            <a:ext cx="5440680" cy="1755648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1247" y="4297680"/>
            <a:ext cx="530352" cy="530352"/>
          </a:xfrm>
          <a:prstGeom prst="ellipse">
            <a:avLst/>
          </a:prstGeom>
          <a:solidFill>
            <a:srgbClr val="FFB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4462272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71A2B"/>
                </a:solidFill>
                <a:latin typeface="Inter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306824"/>
            <a:ext cx="39959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4F8FB"/>
                </a:solidFill>
                <a:latin typeface="Inter"/>
              </a:rPr>
              <a:t>RÉSILIENCE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745736"/>
            <a:ext cx="3904487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AFC4D3"/>
                </a:solidFill>
                <a:latin typeface="Inter"/>
              </a:rPr>
              <a:t>Ports, satellites, câbles et navigation protégés contre les zones grises.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54480" y="5440680"/>
            <a:ext cx="2880360" cy="73152"/>
          </a:xfrm>
          <a:prstGeom prst="roundRect">
            <a:avLst>
              <a:gd name="adj" fmla="val 8000"/>
            </a:avLst>
          </a:prstGeom>
          <a:solidFill>
            <a:srgbClr val="FFB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72200" y="4023360"/>
            <a:ext cx="5440680" cy="1755648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46520" y="4297680"/>
            <a:ext cx="530352" cy="530352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4462272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71A2B"/>
                </a:solidFill>
                <a:latin typeface="Inter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9752" y="4306824"/>
            <a:ext cx="39959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4F8FB"/>
                </a:solidFill>
                <a:latin typeface="Inter"/>
              </a:rPr>
              <a:t>SÉCURITÉ HUMAINE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59752" y="4745736"/>
            <a:ext cx="3904487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AFC4D3"/>
                </a:solidFill>
                <a:latin typeface="Inter"/>
              </a:rPr>
              <a:t>Climat et populations autochtones intégrés aux décisions.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59752" y="5440680"/>
            <a:ext cx="2880360" cy="73152"/>
          </a:xfrm>
          <a:prstGeom prst="roundRect">
            <a:avLst>
              <a:gd name="adj" fmla="val 8000"/>
            </a:avLst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530352" y="6510528"/>
            <a:ext cx="11128248" cy="0"/>
          </a:xfrm>
          <a:prstGeom prst="line">
            <a:avLst/>
          </a:prstGeom>
          <a:ln w="10160">
            <a:solidFill>
              <a:srgbClr val="163C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30352" y="6556248"/>
            <a:ext cx="9875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895A8"/>
                </a:solidFill>
                <a:latin typeface="Inter"/>
              </a:rPr>
              <a:t>Synthèse : OTAN, Conseil de l’Arctique, DoD et littérature stratégique.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82528" y="6547104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7895A8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347472"/>
            <a:ext cx="1097280" cy="283464"/>
          </a:xfrm>
          <a:prstGeom prst="roundRect">
            <a:avLst>
              <a:gd name="adj" fmla="val 8000"/>
            </a:avLst>
          </a:prstGeom>
          <a:solidFill>
            <a:srgbClr val="163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61188"/>
            <a:ext cx="109728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73D8FF"/>
                </a:solidFill>
                <a:latin typeface="Inter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38328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7895A8"/>
                </a:solidFill>
                <a:latin typeface="Inter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68096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F4F8FB"/>
                </a:solidFill>
                <a:latin typeface="Inter"/>
              </a:rPr>
              <a:t>Oui, l’Arctique se militarise — mais de façon asymétrique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FC4D3"/>
                </a:solidFill>
                <a:latin typeface="Inter"/>
              </a:rPr>
              <a:t>La région est d’abord un espace de dissuasion, de surveillance et de gestion du risque.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938528"/>
            <a:ext cx="6784848" cy="859536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" y="2139696"/>
            <a:ext cx="448056" cy="448056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267712"/>
            <a:ext cx="448056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A2B"/>
                </a:solidFill>
                <a:latin typeface="Inter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7904" y="2130552"/>
            <a:ext cx="1115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6B6B"/>
                </a:solidFill>
                <a:latin typeface="Inter"/>
              </a:rPr>
              <a:t>RUSSIE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6" y="2121408"/>
            <a:ext cx="4315968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4F8FB"/>
                </a:solidFill>
                <a:latin typeface="Inter"/>
              </a:rPr>
              <a:t>Avantage géographique et forte densité nucléaire autour de Kola.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017520"/>
            <a:ext cx="6784848" cy="859536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50392" y="3218688"/>
            <a:ext cx="448056" cy="448056"/>
          </a:xfrm>
          <a:prstGeom prst="ellipse">
            <a:avLst/>
          </a:prstGeom>
          <a:solidFill>
            <a:srgbClr val="73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3346703"/>
            <a:ext cx="448056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A2B"/>
                </a:solidFill>
                <a:latin typeface="Inter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3209544"/>
            <a:ext cx="1115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3D8FF"/>
                </a:solidFill>
                <a:latin typeface="Inter"/>
              </a:rPr>
              <a:t>OTAN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2616" y="3200400"/>
            <a:ext cx="4315968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4F8FB"/>
                </a:solidFill>
                <a:latin typeface="Inter"/>
              </a:rPr>
              <a:t>Avantage de coalition et continuité territoriale depuis 2024.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096512"/>
            <a:ext cx="6784848" cy="859536"/>
          </a:xfrm>
          <a:prstGeom prst="roundRect">
            <a:avLst>
              <a:gd name="adj" fmla="val 8000"/>
            </a:avLst>
          </a:prstGeom>
          <a:solidFill>
            <a:srgbClr val="102F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50392" y="4297680"/>
            <a:ext cx="448056" cy="448056"/>
          </a:xfrm>
          <a:prstGeom prst="ellipse">
            <a:avLst/>
          </a:prstGeom>
          <a:solidFill>
            <a:srgbClr val="FFB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4425696"/>
            <a:ext cx="448056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A2B"/>
                </a:solidFill>
                <a:latin typeface="Inter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7904" y="4288536"/>
            <a:ext cx="1115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B36B"/>
                </a:solidFill>
                <a:latin typeface="Inter"/>
              </a:rPr>
              <a:t>CHINE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42616" y="4279392"/>
            <a:ext cx="4315968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4F8FB"/>
                </a:solidFill>
                <a:latin typeface="Inter"/>
              </a:rPr>
              <a:t>Influence croissante, mais empreinte militaire encore secondaire.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08392" y="1938528"/>
            <a:ext cx="3904487" cy="3017520"/>
          </a:xfrm>
          <a:prstGeom prst="roundRect">
            <a:avLst>
              <a:gd name="adj" fmla="val 8000"/>
            </a:avLst>
          </a:prstGeom>
          <a:solidFill>
            <a:srgbClr val="0B263B"/>
          </a:solidFill>
          <a:ln w="12700">
            <a:solidFill>
              <a:srgbClr val="163C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0144" y="2267712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73D8FF"/>
                </a:solidFill>
                <a:latin typeface="Inter"/>
              </a:rPr>
              <a:t>RÉPONSE À LA PROBLÉMATIQUE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5008" y="2761488"/>
            <a:ext cx="320040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4F8FB"/>
                </a:solidFill>
                <a:latin typeface="Inter"/>
              </a:rPr>
              <a:t>La fonte des glaces
crée l’opportunité.
La rivalité stratégique
crée la militarisation.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5605272"/>
            <a:ext cx="11018520" cy="576072"/>
          </a:xfrm>
          <a:prstGeom prst="roundRect">
            <a:avLst>
              <a:gd name="adj" fmla="val 8000"/>
            </a:avLst>
          </a:prstGeom>
          <a:solidFill>
            <a:srgbClr val="163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5779008"/>
            <a:ext cx="104424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4F8FB"/>
                </a:solidFill>
                <a:latin typeface="Inter"/>
              </a:rPr>
              <a:t>Le défi n’est pas de supprimer toute présence militaire — mais d’empêcher qu’elle devienne incontrôlable.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0352" y="6510528"/>
            <a:ext cx="11128248" cy="0"/>
          </a:xfrm>
          <a:prstGeom prst="line">
            <a:avLst/>
          </a:prstGeom>
          <a:ln w="10160">
            <a:solidFill>
              <a:srgbClr val="163C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30352" y="6556248"/>
            <a:ext cx="9875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895A8"/>
                </a:solidFill>
                <a:latin typeface="Inter"/>
              </a:rPr>
              <a:t>Conclusion de l’exposé.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82528" y="6547104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7895A8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347472"/>
            <a:ext cx="1097280" cy="283464"/>
          </a:xfrm>
          <a:prstGeom prst="roundRect">
            <a:avLst>
              <a:gd name="adj" fmla="val 8000"/>
            </a:avLst>
          </a:prstGeom>
          <a:solidFill>
            <a:srgbClr val="163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361188"/>
            <a:ext cx="109728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73D8FF"/>
                </a:solidFill>
                <a:latin typeface="Inter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38328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7895A8"/>
                </a:solidFill>
                <a:latin typeface="Inter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768096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F4F8FB"/>
                </a:solidFill>
                <a:latin typeface="Inter"/>
              </a:rPr>
              <a:t>Références essentielles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353312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FC4D3"/>
                </a:solidFill>
                <a:latin typeface="Inter"/>
              </a:rPr>
              <a:t>Documents officiels et analyses consultés — liens cliquables.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947672"/>
            <a:ext cx="3291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73D8FF"/>
                </a:solidFill>
                <a:latin typeface="Inter"/>
              </a:rPr>
              <a:t>01</a:t>
            </a:r>
          </a:p>
        </p:txBody>
      </p:sp>
      <p:sp>
        <p:nvSpPr>
          <p:cNvPr id="8" name="TextBox 7">
            <a:hlinkClick r:id="rId2"/>
          </p:cNvPr>
          <p:cNvSpPr txBox="1"/>
          <p:nvPr/>
        </p:nvSpPr>
        <p:spPr>
          <a:xfrm>
            <a:off x="1014984" y="1929384"/>
            <a:ext cx="49651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4F8FB"/>
                </a:solidFill>
                <a:latin typeface="Inter"/>
              </a:rPr>
              <a:t>OTAN — Arctic Sentry, 11 fév. 2026</a:t>
            </a:r>
          </a:p>
        </p:txBody>
      </p:sp>
      <p:sp>
        <p:nvSpPr>
          <p:cNvPr id="9" name="TextBox 8">
            <a:hlinkClick r:id="rId2"/>
          </p:cNvPr>
          <p:cNvSpPr txBox="1"/>
          <p:nvPr/>
        </p:nvSpPr>
        <p:spPr>
          <a:xfrm>
            <a:off x="1014984" y="2167128"/>
            <a:ext cx="4965192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895A8"/>
                </a:solidFill>
                <a:latin typeface="Inter"/>
              </a:rPr>
              <a:t>https://www.nato.int/en/news-and-events/articles/news/2026/02/11/nato-secretary-general-outlines-new-activity-arctic-sentry-ahead-of-defence-ministers-meeting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889504"/>
            <a:ext cx="3291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73D8FF"/>
                </a:solidFill>
                <a:latin typeface="Inter"/>
              </a:rPr>
              <a:t>02</a:t>
            </a:r>
          </a:p>
        </p:txBody>
      </p:sp>
      <p:sp>
        <p:nvSpPr>
          <p:cNvPr id="11" name="TextBox 10">
            <a:hlinkClick r:id="rId3"/>
          </p:cNvPr>
          <p:cNvSpPr txBox="1"/>
          <p:nvPr/>
        </p:nvSpPr>
        <p:spPr>
          <a:xfrm>
            <a:off x="1014984" y="2871216"/>
            <a:ext cx="49651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4F8FB"/>
                </a:solidFill>
                <a:latin typeface="Inter"/>
              </a:rPr>
              <a:t>OTAN — sécurité du Grand Nord, 8 juin 2026</a:t>
            </a:r>
          </a:p>
        </p:txBody>
      </p:sp>
      <p:sp>
        <p:nvSpPr>
          <p:cNvPr id="12" name="TextBox 11">
            <a:hlinkClick r:id="rId3"/>
          </p:cNvPr>
          <p:cNvSpPr txBox="1"/>
          <p:nvPr/>
        </p:nvSpPr>
        <p:spPr>
          <a:xfrm>
            <a:off x="1014984" y="3108960"/>
            <a:ext cx="4965192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895A8"/>
                </a:solidFill>
                <a:latin typeface="Inter"/>
              </a:rPr>
              <a:t>https://www.nato.int/en/news-and-events/articles/news/2026/06/08/nato-enhances-security-in-the-arctic-and-high-north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3831335"/>
            <a:ext cx="3291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73D8FF"/>
                </a:solidFill>
                <a:latin typeface="Inter"/>
              </a:rPr>
              <a:t>03</a:t>
            </a:r>
          </a:p>
        </p:txBody>
      </p:sp>
      <p:sp>
        <p:nvSpPr>
          <p:cNvPr id="14" name="TextBox 13">
            <a:hlinkClick r:id="rId4"/>
          </p:cNvPr>
          <p:cNvSpPr txBox="1"/>
          <p:nvPr/>
        </p:nvSpPr>
        <p:spPr>
          <a:xfrm>
            <a:off x="1014984" y="3813048"/>
            <a:ext cx="49651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4F8FB"/>
                </a:solidFill>
                <a:latin typeface="Inter"/>
              </a:rPr>
              <a:t>JFC Norfolk — intégration des Alliés nordiques, 2025</a:t>
            </a:r>
          </a:p>
        </p:txBody>
      </p:sp>
      <p:sp>
        <p:nvSpPr>
          <p:cNvPr id="15" name="TextBox 14">
            <a:hlinkClick r:id="rId4"/>
          </p:cNvPr>
          <p:cNvSpPr txBox="1"/>
          <p:nvPr/>
        </p:nvSpPr>
        <p:spPr>
          <a:xfrm>
            <a:off x="1014984" y="4050791"/>
            <a:ext cx="4965192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895A8"/>
                </a:solidFill>
                <a:latin typeface="Inter"/>
              </a:rPr>
              <a:t>https://jfcnorfolk.nato.int/activity/joint-force-command-norfolk-welcomes-nordic-allies-to-its-area-of-responsibility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773168"/>
            <a:ext cx="3291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73D8FF"/>
                </a:solidFill>
                <a:latin typeface="Inter"/>
              </a:rPr>
              <a:t>04</a:t>
            </a:r>
          </a:p>
        </p:txBody>
      </p:sp>
      <p:sp>
        <p:nvSpPr>
          <p:cNvPr id="17" name="TextBox 16">
            <a:hlinkClick r:id="rId5"/>
          </p:cNvPr>
          <p:cNvSpPr txBox="1"/>
          <p:nvPr/>
        </p:nvSpPr>
        <p:spPr>
          <a:xfrm>
            <a:off x="1014984" y="4754880"/>
            <a:ext cx="49651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4F8FB"/>
                </a:solidFill>
                <a:latin typeface="Inter"/>
              </a:rPr>
              <a:t>NSIDC — minimum de banquise 2025</a:t>
            </a:r>
          </a:p>
        </p:txBody>
      </p:sp>
      <p:sp>
        <p:nvSpPr>
          <p:cNvPr id="18" name="TextBox 17">
            <a:hlinkClick r:id="rId5"/>
          </p:cNvPr>
          <p:cNvSpPr txBox="1"/>
          <p:nvPr/>
        </p:nvSpPr>
        <p:spPr>
          <a:xfrm>
            <a:off x="1014984" y="4992624"/>
            <a:ext cx="4965192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895A8"/>
                </a:solidFill>
                <a:latin typeface="Inter"/>
              </a:rPr>
              <a:t>https://nsidc.org/sea-ice-today/analyses/2025-arctic-sea-ice-minimum-squeezes-ten-lowest-minimums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2" y="1947672"/>
            <a:ext cx="3291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73D8FF"/>
                </a:solidFill>
                <a:latin typeface="Inter"/>
              </a:rPr>
              <a:t>05</a:t>
            </a:r>
          </a:p>
        </p:txBody>
      </p:sp>
      <p:sp>
        <p:nvSpPr>
          <p:cNvPr id="20" name="TextBox 19">
            <a:hlinkClick r:id="rId6"/>
          </p:cNvPr>
          <p:cNvSpPr txBox="1"/>
          <p:nvPr/>
        </p:nvSpPr>
        <p:spPr>
          <a:xfrm>
            <a:off x="6592824" y="1929384"/>
            <a:ext cx="494690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4F8FB"/>
                </a:solidFill>
                <a:latin typeface="Inter"/>
              </a:rPr>
              <a:t>Conseil de l’Arctique — mandat et organisation</a:t>
            </a:r>
          </a:p>
        </p:txBody>
      </p:sp>
      <p:sp>
        <p:nvSpPr>
          <p:cNvPr id="21" name="TextBox 20">
            <a:hlinkClick r:id="rId6"/>
          </p:cNvPr>
          <p:cNvSpPr txBox="1"/>
          <p:nvPr/>
        </p:nvSpPr>
        <p:spPr>
          <a:xfrm>
            <a:off x="6592824" y="2167128"/>
            <a:ext cx="4946904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895A8"/>
                </a:solidFill>
                <a:latin typeface="Inter"/>
              </a:rPr>
              <a:t>https://arctic-council.org/about/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9632" y="2889504"/>
            <a:ext cx="3291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73D8FF"/>
                </a:solidFill>
                <a:latin typeface="Inter"/>
              </a:rPr>
              <a:t>06</a:t>
            </a:r>
          </a:p>
        </p:txBody>
      </p:sp>
      <p:sp>
        <p:nvSpPr>
          <p:cNvPr id="23" name="TextBox 22">
            <a:hlinkClick r:id="rId7"/>
          </p:cNvPr>
          <p:cNvSpPr txBox="1"/>
          <p:nvPr/>
        </p:nvSpPr>
        <p:spPr>
          <a:xfrm>
            <a:off x="6592824" y="2871216"/>
            <a:ext cx="494690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4F8FB"/>
                </a:solidFill>
                <a:latin typeface="Inter"/>
              </a:rPr>
              <a:t>Conseil de l’Arctique — mise à jour 2026</a:t>
            </a:r>
          </a:p>
        </p:txBody>
      </p:sp>
      <p:sp>
        <p:nvSpPr>
          <p:cNvPr id="24" name="TextBox 23">
            <a:hlinkClick r:id="rId7"/>
          </p:cNvPr>
          <p:cNvSpPr txBox="1"/>
          <p:nvPr/>
        </p:nvSpPr>
        <p:spPr>
          <a:xfrm>
            <a:off x="6592824" y="3108960"/>
            <a:ext cx="4946904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895A8"/>
                </a:solidFill>
                <a:latin typeface="Inter"/>
              </a:rPr>
              <a:t>https://arctic-council.org/news/2026-arctic-council-update/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9632" y="3831335"/>
            <a:ext cx="3291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73D8FF"/>
                </a:solidFill>
                <a:latin typeface="Inter"/>
              </a:rPr>
              <a:t>07</a:t>
            </a:r>
          </a:p>
        </p:txBody>
      </p:sp>
      <p:sp>
        <p:nvSpPr>
          <p:cNvPr id="26" name="TextBox 25">
            <a:hlinkClick r:id="rId8"/>
          </p:cNvPr>
          <p:cNvSpPr txBox="1"/>
          <p:nvPr/>
        </p:nvSpPr>
        <p:spPr>
          <a:xfrm>
            <a:off x="6592824" y="3813048"/>
            <a:ext cx="494690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4F8FB"/>
                </a:solidFill>
                <a:latin typeface="Inter"/>
              </a:rPr>
              <a:t>CSIS — The Ice Curtain: Kola Peninsula</a:t>
            </a:r>
          </a:p>
        </p:txBody>
      </p:sp>
      <p:sp>
        <p:nvSpPr>
          <p:cNvPr id="27" name="TextBox 26">
            <a:hlinkClick r:id="rId8"/>
          </p:cNvPr>
          <p:cNvSpPr txBox="1"/>
          <p:nvPr/>
        </p:nvSpPr>
        <p:spPr>
          <a:xfrm>
            <a:off x="6592824" y="4050791"/>
            <a:ext cx="4946904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895A8"/>
                </a:solidFill>
                <a:latin typeface="Inter"/>
              </a:rPr>
              <a:t>https://www.csis.org/analysis/ice-curtain-modernization-kola-peninsula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9632" y="4773168"/>
            <a:ext cx="3291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73D8FF"/>
                </a:solidFill>
                <a:latin typeface="Inter"/>
              </a:rPr>
              <a:t>08</a:t>
            </a:r>
          </a:p>
        </p:txBody>
      </p:sp>
      <p:sp>
        <p:nvSpPr>
          <p:cNvPr id="29" name="TextBox 28">
            <a:hlinkClick r:id="rId9"/>
          </p:cNvPr>
          <p:cNvSpPr txBox="1"/>
          <p:nvPr/>
        </p:nvSpPr>
        <p:spPr>
          <a:xfrm>
            <a:off x="6592824" y="4754880"/>
            <a:ext cx="494690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4F8FB"/>
                </a:solidFill>
                <a:latin typeface="Inter"/>
              </a:rPr>
              <a:t>DoD — 2024 Arctic Strategy</a:t>
            </a:r>
          </a:p>
        </p:txBody>
      </p:sp>
      <p:sp>
        <p:nvSpPr>
          <p:cNvPr id="30" name="TextBox 29">
            <a:hlinkClick r:id="rId9"/>
          </p:cNvPr>
          <p:cNvSpPr txBox="1"/>
          <p:nvPr/>
        </p:nvSpPr>
        <p:spPr>
          <a:xfrm>
            <a:off x="6592824" y="4992624"/>
            <a:ext cx="4946904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895A8"/>
                </a:solidFill>
                <a:latin typeface="Inter"/>
              </a:rPr>
              <a:t>https://media.defense.gov/2024/Jul/22/2003507411/-1/-1/0/DOD-ARCTIC-STRATEGY-2024.PDF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" y="5797296"/>
            <a:ext cx="10881360" cy="365760"/>
          </a:xfrm>
          <a:prstGeom prst="roundRect">
            <a:avLst>
              <a:gd name="adj" fmla="val 8000"/>
            </a:avLst>
          </a:prstGeom>
          <a:solidFill>
            <a:srgbClr val="0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888736"/>
            <a:ext cx="1046988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AFC4D3"/>
                </a:solidFill>
                <a:latin typeface="Inter"/>
              </a:rPr>
              <a:t>Carte : Natural Earth, adaptée · Données vérifiées au 6 octobre 2026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30352" y="6510528"/>
            <a:ext cx="11128248" cy="0"/>
          </a:xfrm>
          <a:prstGeom prst="line">
            <a:avLst/>
          </a:prstGeom>
          <a:ln w="10160">
            <a:solidFill>
              <a:srgbClr val="163C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30352" y="6556248"/>
            <a:ext cx="9875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895A8"/>
                </a:solidFill>
                <a:latin typeface="Inter"/>
              </a:rPr>
              <a:t>Les notes du présentateur contiennent un script oral pour chaque diapositive.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82528" y="6547104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>
                <a:solidFill>
                  <a:srgbClr val="7895A8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militarisation de l’Arctique</dc:title>
  <dc:subject>Exposé géopolitique — situation en 2026</dc:subject>
  <dc:creator>Cursor</dc:creator>
  <cp:keywords>Arctique, militarisation, OTAN, Russie, Chine, géopolitique</cp:keywords>
  <dc:description>Présentation en français avec notes du présentateur et sources cliquables.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